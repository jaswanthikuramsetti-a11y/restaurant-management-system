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74" r:id="rId2"/>
    <p:sldId id="275" r:id="rId3"/>
    <p:sldId id="276" r:id="rId4"/>
    <p:sldId id="258" r:id="rId5"/>
    <p:sldId id="259" r:id="rId6"/>
    <p:sldId id="260" r:id="rId7"/>
    <p:sldId id="277" r:id="rId8"/>
    <p:sldId id="279" r:id="rId9"/>
    <p:sldId id="281" r:id="rId10"/>
    <p:sldId id="282" r:id="rId11"/>
    <p:sldId id="283" r:id="rId12"/>
    <p:sldId id="284" r:id="rId13"/>
    <p:sldId id="286" r:id="rId14"/>
    <p:sldId id="287" r:id="rId15"/>
    <p:sldId id="288" r:id="rId16"/>
    <p:sldId id="289" r:id="rId17"/>
    <p:sldId id="290" r:id="rId18"/>
    <p:sldId id="291" r:id="rId19"/>
    <p:sldId id="292" r:id="rId20"/>
    <p:sldId id="293" r:id="rId21"/>
    <p:sldId id="294" r:id="rId22"/>
    <p:sldId id="256" r:id="rId23"/>
    <p:sldId id="295" r:id="rId24"/>
    <p:sldId id="26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921A2E-F7E7-49EB-AE81-CC4CCD2B8FB0}" v="2" dt="2026-09-22T04:13:35.0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athi Vedantam" userId="496510648cdb1b1e" providerId="LiveId" clId="{AE044E62-FE4C-4941-8729-FC7CA59CE6E3}"/>
    <pc:docChg chg="custSel modSld">
      <pc:chgData name="Mahathi Vedantam" userId="496510648cdb1b1e" providerId="LiveId" clId="{AE044E62-FE4C-4941-8729-FC7CA59CE6E3}" dt="2026-09-22T04:13:35.004" v="3"/>
      <pc:docMkLst>
        <pc:docMk/>
      </pc:docMkLst>
      <pc:sldChg chg="addSp delSp modSp mod">
        <pc:chgData name="Mahathi Vedantam" userId="496510648cdb1b1e" providerId="LiveId" clId="{AE044E62-FE4C-4941-8729-FC7CA59CE6E3}" dt="2026-09-22T04:13:35.004" v="3"/>
        <pc:sldMkLst>
          <pc:docMk/>
          <pc:sldMk cId="255585922" sldId="282"/>
        </pc:sldMkLst>
        <pc:spChg chg="add mod">
          <ac:chgData name="Mahathi Vedantam" userId="496510648cdb1b1e" providerId="LiveId" clId="{AE044E62-FE4C-4941-8729-FC7CA59CE6E3}" dt="2026-09-22T04:13:35.004" v="3"/>
          <ac:spMkLst>
            <pc:docMk/>
            <pc:sldMk cId="255585922" sldId="282"/>
            <ac:spMk id="3" creationId="{4B7B046D-5B20-8591-E70A-AAAFBDF06092}"/>
          </ac:spMkLst>
        </pc:spChg>
        <pc:spChg chg="del mod">
          <ac:chgData name="Mahathi Vedantam" userId="496510648cdb1b1e" providerId="LiveId" clId="{AE044E62-FE4C-4941-8729-FC7CA59CE6E3}" dt="2026-09-22T04:13:13.544" v="1" actId="478"/>
          <ac:spMkLst>
            <pc:docMk/>
            <pc:sldMk cId="255585922" sldId="282"/>
            <ac:spMk id="7" creationId="{3B296C3F-F3D0-4233-B8AF-7CF1E4F9AE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B383C-5D85-4F9C-93C9-3E885EBA1038}" type="datetimeFigureOut">
              <a:rPr lang="en-IN" smtClean="0"/>
              <a:t>28-09-2026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95AC65-6228-4F1A-825B-F39AA32EC96F}" type="slidenum">
              <a:rPr lang="en-IN" smtClean="0"/>
              <a:t>‹#›</a:t>
            </a:fld>
            <a:endParaRPr lang="en-IN"/>
          </a:p>
        </p:txBody>
      </p:sp>
    </p:spTree>
    <p:extLst>
      <p:ext uri="{BB962C8B-B14F-4D97-AF65-F5344CB8AC3E}">
        <p14:creationId xmlns:p14="http://schemas.microsoft.com/office/powerpoint/2010/main" val="1617812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20077-27B5-FEF4-7AC2-C128B48630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BA592B-2C88-5816-71DD-B1253A956D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A08D8BA-BD57-A7E0-DEAD-395173ED1E96}"/>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5" name="Footer Placeholder 4">
            <a:extLst>
              <a:ext uri="{FF2B5EF4-FFF2-40B4-BE49-F238E27FC236}">
                <a16:creationId xmlns:a16="http://schemas.microsoft.com/office/drawing/2014/main" id="{C26CEE57-17B0-5094-2732-EEAD7921C0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3CF4E3-E52C-080C-9FBA-D4AE7A3A2B3F}"/>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1718991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B9E03-62DE-BE38-BFEA-464B47666F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4BFFFA-B027-FF91-33FD-D728A6A84C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D797B1-CD43-5E2D-96C7-8FAD92220EC5}"/>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5" name="Footer Placeholder 4">
            <a:extLst>
              <a:ext uri="{FF2B5EF4-FFF2-40B4-BE49-F238E27FC236}">
                <a16:creationId xmlns:a16="http://schemas.microsoft.com/office/drawing/2014/main" id="{B9A4BC23-AC7D-BBCA-7B44-337F89DF1E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D856E3-068A-F7BA-792D-93A6124B1221}"/>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3548687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28115-1BDA-79CC-FAF0-554DA66519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9867DA-50A9-52DA-03F7-2AAC2F6073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84A02F-680A-4AD9-BF8A-43A69AAADCAF}"/>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5" name="Footer Placeholder 4">
            <a:extLst>
              <a:ext uri="{FF2B5EF4-FFF2-40B4-BE49-F238E27FC236}">
                <a16:creationId xmlns:a16="http://schemas.microsoft.com/office/drawing/2014/main" id="{41E9CFBD-9DB4-DAB6-066D-A7FEBFBE79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093B32-F2E3-B772-AE51-A34EBDE9855A}"/>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3454706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AACF6-7A75-62AD-357B-D9D3E8C16F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2BB567-335F-63F2-2464-CAB481E543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87A6E0-741D-8D50-C42A-EAC555976F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585B171-09A2-7951-7FF7-54B3BEAAC3AA}"/>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6" name="Footer Placeholder 5">
            <a:extLst>
              <a:ext uri="{FF2B5EF4-FFF2-40B4-BE49-F238E27FC236}">
                <a16:creationId xmlns:a16="http://schemas.microsoft.com/office/drawing/2014/main" id="{94C0C9B3-5410-7BA5-476B-B89FF39307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AF3DB9-CA75-670B-6BB3-1EED62BBE59C}"/>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463220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815D1-9E1B-E129-8F27-498B4ED010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15C9AC-F5C7-75B0-2D1A-681BD1EB0D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2A6DB3-FCD6-3BE1-D70D-E5FD4596A8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BC28FF-9791-338F-1E8F-153B965D61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1CF90F-F398-7085-4C71-FB08AC302C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DA518F-9118-E686-8F4E-24F5E8C1F41E}"/>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8" name="Footer Placeholder 7">
            <a:extLst>
              <a:ext uri="{FF2B5EF4-FFF2-40B4-BE49-F238E27FC236}">
                <a16:creationId xmlns:a16="http://schemas.microsoft.com/office/drawing/2014/main" id="{4FD57A85-3B93-5CF5-BF66-148F613387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3E962D-9A4F-3700-C028-D5AF8C27F723}"/>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3305253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DFB23-02AF-4CDC-7810-6675677680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F348548-89AE-2956-1292-C159A057DAD7}"/>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4" name="Footer Placeholder 3">
            <a:extLst>
              <a:ext uri="{FF2B5EF4-FFF2-40B4-BE49-F238E27FC236}">
                <a16:creationId xmlns:a16="http://schemas.microsoft.com/office/drawing/2014/main" id="{9A1C36AD-3730-512F-7C22-0F11A0BD859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021C517-5FC7-E7F4-88EB-F1C9EECFA343}"/>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348536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36500E-D6E3-184C-E334-E854FBE53553}"/>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3" name="Footer Placeholder 2">
            <a:extLst>
              <a:ext uri="{FF2B5EF4-FFF2-40B4-BE49-F238E27FC236}">
                <a16:creationId xmlns:a16="http://schemas.microsoft.com/office/drawing/2014/main" id="{CAD7CB6B-C7A6-E526-D362-0E3D3E59C5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0B3CC9-AAD3-6F67-614F-D373D3D1331F}"/>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482314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65D4-7661-256D-8D51-D54CD3CD43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D64F2C-E819-89AA-E1B0-1B827318D2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5A6034F-C8A7-F6C7-75E8-9E4E0ED571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71C8B9-BB8D-1DAD-A998-8C31C42BE856}"/>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6" name="Footer Placeholder 5">
            <a:extLst>
              <a:ext uri="{FF2B5EF4-FFF2-40B4-BE49-F238E27FC236}">
                <a16:creationId xmlns:a16="http://schemas.microsoft.com/office/drawing/2014/main" id="{358F2CE1-2316-EDDB-2554-C564509FC1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D89082-FFEA-55CB-2739-B9B3071DB2B6}"/>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168924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828E-F738-7EEB-5BFE-78D285C8FE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AB2A14-4143-4B4D-19FE-B0FD7CAA09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4E14382-69A7-CEF7-DA39-4DA2E562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AD3637-D410-8B48-7647-EC4A9686C8E0}"/>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6" name="Footer Placeholder 5">
            <a:extLst>
              <a:ext uri="{FF2B5EF4-FFF2-40B4-BE49-F238E27FC236}">
                <a16:creationId xmlns:a16="http://schemas.microsoft.com/office/drawing/2014/main" id="{3B3340B2-57E9-95A2-B8BD-8854FB2871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F4570C-0949-065E-D6E7-AD6D821B0A72}"/>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247168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0ED2F-C3A8-91D6-9479-4010201E20F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9F9370-B1CF-3CFB-3996-14FA9C6DF3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6E0623-8F67-FFA5-AE7D-A16DB07FDB95}"/>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5" name="Footer Placeholder 4">
            <a:extLst>
              <a:ext uri="{FF2B5EF4-FFF2-40B4-BE49-F238E27FC236}">
                <a16:creationId xmlns:a16="http://schemas.microsoft.com/office/drawing/2014/main" id="{DE8091A6-035C-7F2C-E859-BE89CA08F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7BF685-0B06-AD90-05DF-534B039DC38F}"/>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3777818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1BC5D3-3EDF-C3EA-EDFE-6EC73F624C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7AD43B-FB3B-1CE2-F215-76AFA106B7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68F97E-550A-AD23-12A8-49FED378EEC4}"/>
              </a:ext>
            </a:extLst>
          </p:cNvPr>
          <p:cNvSpPr>
            <a:spLocks noGrp="1"/>
          </p:cNvSpPr>
          <p:nvPr>
            <p:ph type="dt" sz="half" idx="10"/>
          </p:nvPr>
        </p:nvSpPr>
        <p:spPr/>
        <p:txBody>
          <a:bodyPr/>
          <a:lstStyle/>
          <a:p>
            <a:fld id="{D46CD85F-38CA-42A6-9ED4-646D2FC1F6DD}" type="datetimeFigureOut">
              <a:rPr lang="en-IN" smtClean="0"/>
              <a:t>28-09-2026</a:t>
            </a:fld>
            <a:endParaRPr lang="en-IN"/>
          </a:p>
        </p:txBody>
      </p:sp>
      <p:sp>
        <p:nvSpPr>
          <p:cNvPr id="5" name="Footer Placeholder 4">
            <a:extLst>
              <a:ext uri="{FF2B5EF4-FFF2-40B4-BE49-F238E27FC236}">
                <a16:creationId xmlns:a16="http://schemas.microsoft.com/office/drawing/2014/main" id="{56216445-8A7E-5F2D-ED12-2018B309EA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792914-FCBF-8BC5-5CEE-CFB9213C1603}"/>
              </a:ext>
            </a:extLst>
          </p:cNvPr>
          <p:cNvSpPr>
            <a:spLocks noGrp="1"/>
          </p:cNvSpPr>
          <p:nvPr>
            <p:ph type="sldNum" sz="quarter" idx="12"/>
          </p:nvPr>
        </p:nvSpPr>
        <p:spPr/>
        <p:txBody>
          <a:bodyPr/>
          <a:lstStyle/>
          <a:p>
            <a:fld id="{1B93A73E-EDA7-4F8E-ACFA-5C7510CD8646}" type="slidenum">
              <a:rPr lang="en-IN" smtClean="0"/>
              <a:t>‹#›</a:t>
            </a:fld>
            <a:endParaRPr lang="en-IN"/>
          </a:p>
        </p:txBody>
      </p:sp>
    </p:spTree>
    <p:extLst>
      <p:ext uri="{BB962C8B-B14F-4D97-AF65-F5344CB8AC3E}">
        <p14:creationId xmlns:p14="http://schemas.microsoft.com/office/powerpoint/2010/main" val="3077082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6370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9A1BEE-BC47-D7DC-9553-C137BAA241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073A96-6FA1-201E-47D9-4212BC878C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2A207D-93D9-1A66-8CFD-4BA37CB033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6CD85F-38CA-42A6-9ED4-646D2FC1F6DD}" type="datetimeFigureOut">
              <a:rPr lang="en-IN" smtClean="0"/>
              <a:t>28-09-2026</a:t>
            </a:fld>
            <a:endParaRPr lang="en-IN"/>
          </a:p>
        </p:txBody>
      </p:sp>
      <p:sp>
        <p:nvSpPr>
          <p:cNvPr id="5" name="Footer Placeholder 4">
            <a:extLst>
              <a:ext uri="{FF2B5EF4-FFF2-40B4-BE49-F238E27FC236}">
                <a16:creationId xmlns:a16="http://schemas.microsoft.com/office/drawing/2014/main" id="{12BE97E7-3B9B-BF41-D22D-8D0FA6A291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C81C03A-4F5A-5F2B-9C5C-86FFC460E9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93A73E-EDA7-4F8E-ACFA-5C7510CD8646}" type="slidenum">
              <a:rPr lang="en-IN" smtClean="0"/>
              <a:t>‹#›</a:t>
            </a:fld>
            <a:endParaRPr lang="en-IN"/>
          </a:p>
        </p:txBody>
      </p:sp>
    </p:spTree>
    <p:extLst>
      <p:ext uri="{BB962C8B-B14F-4D97-AF65-F5344CB8AC3E}">
        <p14:creationId xmlns:p14="http://schemas.microsoft.com/office/powerpoint/2010/main" val="2593618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173C403-A05C-BB5B-58AE-B056910C9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463" y="88491"/>
            <a:ext cx="9463550" cy="1204179"/>
          </a:xfrm>
          <a:prstGeom prst="rect">
            <a:avLst/>
          </a:prstGeom>
        </p:spPr>
      </p:pic>
      <p:sp>
        <p:nvSpPr>
          <p:cNvPr id="37" name="Title 36">
            <a:extLst>
              <a:ext uri="{FF2B5EF4-FFF2-40B4-BE49-F238E27FC236}">
                <a16:creationId xmlns:a16="http://schemas.microsoft.com/office/drawing/2014/main" id="{1EBC71A1-C82B-526F-2AC2-AAB991C9BD21}"/>
              </a:ext>
            </a:extLst>
          </p:cNvPr>
          <p:cNvSpPr>
            <a:spLocks noGrp="1"/>
          </p:cNvSpPr>
          <p:nvPr>
            <p:ph type="ctrTitle"/>
          </p:nvPr>
        </p:nvSpPr>
        <p:spPr>
          <a:xfrm>
            <a:off x="1524000" y="2517059"/>
            <a:ext cx="8858864" cy="1020096"/>
          </a:xfrm>
        </p:spPr>
        <p:txBody>
          <a:bodyPr>
            <a:noAutofit/>
          </a:bodyPr>
          <a:lstStyle/>
          <a:p>
            <a:r>
              <a:rPr lang="en-US" sz="2800" b="1" dirty="0">
                <a:solidFill>
                  <a:schemeClr val="accent4">
                    <a:lumMod val="50000"/>
                  </a:schemeClr>
                </a:solidFill>
              </a:rPr>
              <a:t>Project Title:</a:t>
            </a:r>
            <a:br>
              <a:rPr lang="en-US" sz="2800" b="1" dirty="0"/>
            </a:br>
            <a:r>
              <a:rPr lang="en-US" sz="2800" b="1" dirty="0">
                <a:solidFill>
                  <a:srgbClr val="C00000"/>
                </a:solidFill>
              </a:rPr>
              <a:t>RESTAURANT MANAGEMENT SYSTEM USING C++</a:t>
            </a:r>
            <a:endParaRPr lang="en-IN" sz="2800" b="1" dirty="0">
              <a:solidFill>
                <a:srgbClr val="C00000"/>
              </a:solidFill>
            </a:endParaRPr>
          </a:p>
        </p:txBody>
      </p:sp>
      <p:sp>
        <p:nvSpPr>
          <p:cNvPr id="32" name="Subtitle 31">
            <a:extLst>
              <a:ext uri="{FF2B5EF4-FFF2-40B4-BE49-F238E27FC236}">
                <a16:creationId xmlns:a16="http://schemas.microsoft.com/office/drawing/2014/main" id="{B19286F1-E4D3-6CE2-F19A-56E9A7316236}"/>
              </a:ext>
            </a:extLst>
          </p:cNvPr>
          <p:cNvSpPr>
            <a:spLocks noGrp="1"/>
          </p:cNvSpPr>
          <p:nvPr>
            <p:ph type="subTitle" idx="1"/>
          </p:nvPr>
        </p:nvSpPr>
        <p:spPr>
          <a:xfrm>
            <a:off x="1809135" y="1108588"/>
            <a:ext cx="8573729" cy="1408470"/>
          </a:xfrm>
        </p:spPr>
        <p:txBody>
          <a:bodyPr>
            <a:normAutofit/>
          </a:bodyPr>
          <a:lstStyle/>
          <a:p>
            <a:r>
              <a:rPr lang="en-US" b="1" dirty="0"/>
              <a:t>Project Review 1&amp;2</a:t>
            </a:r>
          </a:p>
          <a:p>
            <a:r>
              <a:rPr lang="en-US" b="1" dirty="0">
                <a:solidFill>
                  <a:srgbClr val="0070C0"/>
                </a:solidFill>
              </a:rPr>
              <a:t>Department of </a:t>
            </a:r>
          </a:p>
          <a:p>
            <a:r>
              <a:rPr lang="en-US" b="1" dirty="0">
                <a:solidFill>
                  <a:srgbClr val="0070C0"/>
                </a:solidFill>
              </a:rPr>
              <a:t>Artificial Intelligence and Machine Learning</a:t>
            </a:r>
          </a:p>
          <a:p>
            <a:endParaRPr lang="en-IN" dirty="0"/>
          </a:p>
        </p:txBody>
      </p:sp>
      <p:sp>
        <p:nvSpPr>
          <p:cNvPr id="38" name="TextBox 37">
            <a:extLst>
              <a:ext uri="{FF2B5EF4-FFF2-40B4-BE49-F238E27FC236}">
                <a16:creationId xmlns:a16="http://schemas.microsoft.com/office/drawing/2014/main" id="{6DBCD7EA-2056-EFAC-84B0-4BFD6CD51C64}"/>
              </a:ext>
            </a:extLst>
          </p:cNvPr>
          <p:cNvSpPr txBox="1"/>
          <p:nvPr/>
        </p:nvSpPr>
        <p:spPr>
          <a:xfrm>
            <a:off x="130922" y="4549083"/>
            <a:ext cx="3644663" cy="1200329"/>
          </a:xfrm>
          <a:prstGeom prst="rect">
            <a:avLst/>
          </a:prstGeom>
          <a:noFill/>
        </p:spPr>
        <p:txBody>
          <a:bodyPr wrap="square" rtlCol="0">
            <a:spAutoFit/>
          </a:bodyPr>
          <a:lstStyle/>
          <a:p>
            <a:pPr algn="ctr"/>
            <a:r>
              <a:rPr lang="en-US" b="1" dirty="0">
                <a:solidFill>
                  <a:srgbClr val="FF0000"/>
                </a:solidFill>
              </a:rPr>
              <a:t>Guide:- </a:t>
            </a:r>
            <a:r>
              <a:rPr lang="en-US" b="1" dirty="0">
                <a:solidFill>
                  <a:schemeClr val="accent2">
                    <a:lumMod val="50000"/>
                  </a:schemeClr>
                </a:solidFill>
              </a:rPr>
              <a:t>Vijaya Lakshmi</a:t>
            </a:r>
          </a:p>
          <a:p>
            <a:pPr algn="ctr"/>
            <a:r>
              <a:rPr lang="en-US" b="1" dirty="0">
                <a:solidFill>
                  <a:srgbClr val="FF0000"/>
                </a:solidFill>
              </a:rPr>
              <a:t>Co-Guide:- Sudheer</a:t>
            </a:r>
            <a:endParaRPr lang="en-US" b="1" dirty="0">
              <a:solidFill>
                <a:schemeClr val="accent2">
                  <a:lumMod val="50000"/>
                </a:schemeClr>
              </a:solidFill>
            </a:endParaRPr>
          </a:p>
          <a:p>
            <a:pPr algn="ctr"/>
            <a:r>
              <a:rPr lang="en-US" b="1" dirty="0">
                <a:solidFill>
                  <a:schemeClr val="accent3">
                    <a:lumMod val="50000"/>
                  </a:schemeClr>
                </a:solidFill>
              </a:rPr>
              <a:t>Assistant Professor</a:t>
            </a:r>
          </a:p>
          <a:p>
            <a:pPr algn="ctr"/>
            <a:r>
              <a:rPr lang="en-US" b="1" dirty="0">
                <a:solidFill>
                  <a:schemeClr val="accent3">
                    <a:lumMod val="50000"/>
                  </a:schemeClr>
                </a:solidFill>
              </a:rPr>
              <a:t>Department Of AIML</a:t>
            </a:r>
            <a:endParaRPr lang="en-IN" b="1" dirty="0">
              <a:solidFill>
                <a:schemeClr val="accent3">
                  <a:lumMod val="50000"/>
                </a:schemeClr>
              </a:solidFill>
            </a:endParaRPr>
          </a:p>
        </p:txBody>
      </p:sp>
      <p:sp>
        <p:nvSpPr>
          <p:cNvPr id="39" name="TextBox 38">
            <a:extLst>
              <a:ext uri="{FF2B5EF4-FFF2-40B4-BE49-F238E27FC236}">
                <a16:creationId xmlns:a16="http://schemas.microsoft.com/office/drawing/2014/main" id="{77296202-01F8-80AE-EBDD-A4BE7276451D}"/>
              </a:ext>
            </a:extLst>
          </p:cNvPr>
          <p:cNvSpPr txBox="1"/>
          <p:nvPr/>
        </p:nvSpPr>
        <p:spPr>
          <a:xfrm>
            <a:off x="4319752" y="4410583"/>
            <a:ext cx="6771035" cy="1754326"/>
          </a:xfrm>
          <a:prstGeom prst="rect">
            <a:avLst/>
          </a:prstGeom>
          <a:noFill/>
        </p:spPr>
        <p:txBody>
          <a:bodyPr wrap="square" rtlCol="0">
            <a:spAutoFit/>
          </a:bodyPr>
          <a:lstStyle/>
          <a:p>
            <a:r>
              <a:rPr lang="en-US" b="1" dirty="0"/>
              <a:t>Team Members :               Registration Number:         Branch:</a:t>
            </a:r>
          </a:p>
          <a:p>
            <a:r>
              <a:rPr lang="en-US" b="1" dirty="0">
                <a:solidFill>
                  <a:srgbClr val="0070C0"/>
                </a:solidFill>
              </a:rPr>
              <a:t>K . Jaswanthi                             25B11AI619                             AIML</a:t>
            </a:r>
          </a:p>
          <a:p>
            <a:r>
              <a:rPr lang="en-US" b="1" dirty="0">
                <a:solidFill>
                  <a:srgbClr val="0070C0"/>
                </a:solidFill>
              </a:rPr>
              <a:t>T. Sanjana                                  25B11AIB85                             AIML</a:t>
            </a:r>
          </a:p>
          <a:p>
            <a:r>
              <a:rPr lang="en-US" b="1" dirty="0">
                <a:solidFill>
                  <a:srgbClr val="0070C0"/>
                </a:solidFill>
              </a:rPr>
              <a:t>R.P. Chandrasekhar             25B11AIA43                             AIML</a:t>
            </a:r>
          </a:p>
          <a:p>
            <a:r>
              <a:rPr lang="en-US" b="1" dirty="0">
                <a:solidFill>
                  <a:srgbClr val="0070C0"/>
                </a:solidFill>
              </a:rPr>
              <a:t>P. Haribabu                               25B11AI935                               AIML</a:t>
            </a:r>
            <a:endParaRPr lang="en-IN" b="1" dirty="0">
              <a:solidFill>
                <a:srgbClr val="0070C0"/>
              </a:solidFill>
            </a:endParaRPr>
          </a:p>
          <a:p>
            <a:endParaRPr lang="en-US" b="1" dirty="0">
              <a:solidFill>
                <a:srgbClr val="0070C0"/>
              </a:solidFill>
            </a:endParaRPr>
          </a:p>
        </p:txBody>
      </p:sp>
    </p:spTree>
    <p:extLst>
      <p:ext uri="{BB962C8B-B14F-4D97-AF65-F5344CB8AC3E}">
        <p14:creationId xmlns:p14="http://schemas.microsoft.com/office/powerpoint/2010/main" val="2998223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8A0FA-BA67-D641-20D5-026CCE466AE3}"/>
              </a:ext>
            </a:extLst>
          </p:cNvPr>
          <p:cNvSpPr>
            <a:spLocks noGrp="1"/>
          </p:cNvSpPr>
          <p:nvPr>
            <p:ph type="title"/>
          </p:nvPr>
        </p:nvSpPr>
        <p:spPr>
          <a:xfrm>
            <a:off x="855132" y="1"/>
            <a:ext cx="10498667" cy="681036"/>
          </a:xfrm>
        </p:spPr>
        <p:txBody>
          <a:bodyPr>
            <a:normAutofit fontScale="90000"/>
          </a:bodyPr>
          <a:lstStyle/>
          <a:p>
            <a:pPr algn="ctr"/>
            <a:r>
              <a:rPr lang="en-IN" dirty="0"/>
              <a:t>Outline:</a:t>
            </a:r>
          </a:p>
        </p:txBody>
      </p:sp>
      <p:sp>
        <p:nvSpPr>
          <p:cNvPr id="3" name="Content Placeholder 2">
            <a:extLst>
              <a:ext uri="{FF2B5EF4-FFF2-40B4-BE49-F238E27FC236}">
                <a16:creationId xmlns:a16="http://schemas.microsoft.com/office/drawing/2014/main" id="{2BCE834B-84CC-6445-DC5F-36502D33A59D}"/>
              </a:ext>
            </a:extLst>
          </p:cNvPr>
          <p:cNvSpPr>
            <a:spLocks noGrp="1"/>
          </p:cNvSpPr>
          <p:nvPr>
            <p:ph idx="1"/>
          </p:nvPr>
        </p:nvSpPr>
        <p:spPr>
          <a:xfrm>
            <a:off x="660401" y="681036"/>
            <a:ext cx="10693400" cy="6062663"/>
          </a:xfrm>
        </p:spPr>
        <p:txBody>
          <a:bodyPr>
            <a:normAutofit fontScale="92500"/>
          </a:bodyPr>
          <a:lstStyle/>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Project Title &amp; Team Members</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Project Objective</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Project Progress – Review 1 to Review 2</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System Modules</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Order Structure &amp; STL Vector</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Core Function – </a:t>
            </a:r>
            <a:r>
              <a:rPr lang="en-US" altLang="en-US" sz="2800" dirty="0" err="1">
                <a:latin typeface="Times New Roman" panose="02020603050405020304" pitchFamily="18" charset="0"/>
                <a:cs typeface="Times New Roman" panose="02020603050405020304" pitchFamily="18" charset="0"/>
                <a:sym typeface="+mn-ea"/>
              </a:rPr>
              <a:t>calculateTotals</a:t>
            </a:r>
            <a:r>
              <a:rPr lang="en-US" altLang="en-US" sz="2800" dirty="0">
                <a:latin typeface="Times New Roman" panose="02020603050405020304" pitchFamily="18" charset="0"/>
                <a:cs typeface="Times New Roman" panose="02020603050405020304" pitchFamily="18" charset="0"/>
                <a:sym typeface="+mn-ea"/>
              </a:rPr>
              <a:t>()</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File Handling – CSV Storage</a:t>
            </a: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Input Validation</a:t>
            </a:r>
            <a:endParaRPr lang="en-US" altLang="en-US" sz="2800"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5" name="Picture 4">
            <a:extLst>
              <a:ext uri="{FF2B5EF4-FFF2-40B4-BE49-F238E27FC236}">
                <a16:creationId xmlns:a16="http://schemas.microsoft.com/office/drawing/2014/main" id="{A94128B3-6E36-608E-37C1-FF7A0808A1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57" y="1"/>
            <a:ext cx="2312276" cy="681036"/>
          </a:xfrm>
          <a:prstGeom prst="rect">
            <a:avLst/>
          </a:prstGeom>
        </p:spPr>
      </p:pic>
    </p:spTree>
    <p:extLst>
      <p:ext uri="{BB962C8B-B14F-4D97-AF65-F5344CB8AC3E}">
        <p14:creationId xmlns:p14="http://schemas.microsoft.com/office/powerpoint/2010/main" val="2106244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27D942-BCA3-290B-DB60-4D2757DB4F11}"/>
              </a:ext>
            </a:extLst>
          </p:cNvPr>
          <p:cNvSpPr>
            <a:spLocks noGrp="1"/>
          </p:cNvSpPr>
          <p:nvPr>
            <p:ph idx="1"/>
          </p:nvPr>
        </p:nvSpPr>
        <p:spPr>
          <a:xfrm>
            <a:off x="419100" y="725213"/>
            <a:ext cx="10934700" cy="5731203"/>
          </a:xfrm>
        </p:spPr>
        <p:txBody>
          <a:bodyPr/>
          <a:lstStyle/>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GUI &amp; Event-Driven Programming</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C++ Concepts &amp; STL Used</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Testing &amp; Validation</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Application Output</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Team Member Contributions</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Future Enhancements</a:t>
            </a:r>
            <a:endParaRPr lang="en-US" altLang="en-US" sz="2800" dirty="0">
              <a:latin typeface="Times New Roman" panose="02020603050405020304" pitchFamily="18" charset="0"/>
              <a:cs typeface="Times New Roman" panose="02020603050405020304" pitchFamily="18" charset="0"/>
            </a:endParaRPr>
          </a:p>
          <a:p>
            <a:pPr>
              <a:lnSpc>
                <a:spcPct val="160000"/>
              </a:lnSpc>
              <a:buFont typeface="Wingdings" panose="05000000000000000000" charset="0"/>
              <a:buChar char="Ø"/>
            </a:pPr>
            <a:r>
              <a:rPr lang="en-US" altLang="en-US" sz="2800" dirty="0">
                <a:latin typeface="Times New Roman" panose="02020603050405020304" pitchFamily="18" charset="0"/>
                <a:cs typeface="Times New Roman" panose="02020603050405020304" pitchFamily="18" charset="0"/>
                <a:sym typeface="+mn-ea"/>
              </a:rPr>
              <a:t>Conclusion</a:t>
            </a:r>
          </a:p>
          <a:p>
            <a:pPr marL="0" indent="0">
              <a:buNone/>
            </a:pPr>
            <a:endParaRPr lang="en-IN" dirty="0"/>
          </a:p>
        </p:txBody>
      </p:sp>
      <p:pic>
        <p:nvPicPr>
          <p:cNvPr id="5" name="Picture 4">
            <a:extLst>
              <a:ext uri="{FF2B5EF4-FFF2-40B4-BE49-F238E27FC236}">
                <a16:creationId xmlns:a16="http://schemas.microsoft.com/office/drawing/2014/main" id="{D75D628F-8DD1-30D9-56CD-AB447A91E8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31" y="-10509"/>
            <a:ext cx="2102069" cy="681036"/>
          </a:xfrm>
          <a:prstGeom prst="rect">
            <a:avLst/>
          </a:prstGeom>
        </p:spPr>
      </p:pic>
    </p:spTree>
    <p:extLst>
      <p:ext uri="{BB962C8B-B14F-4D97-AF65-F5344CB8AC3E}">
        <p14:creationId xmlns:p14="http://schemas.microsoft.com/office/powerpoint/2010/main" val="740739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6F05E-7743-A4D5-6C4D-4AB847FC2C83}"/>
              </a:ext>
            </a:extLst>
          </p:cNvPr>
          <p:cNvSpPr>
            <a:spLocks noGrp="1"/>
          </p:cNvSpPr>
          <p:nvPr>
            <p:ph type="title"/>
          </p:nvPr>
        </p:nvSpPr>
        <p:spPr/>
        <p:txBody>
          <a:bodyPr/>
          <a:lstStyle/>
          <a:p>
            <a:pPr algn="ctr"/>
            <a:r>
              <a:rPr lang="en-US" dirty="0">
                <a:solidFill>
                  <a:schemeClr val="bg2">
                    <a:lumMod val="10000"/>
                  </a:schemeClr>
                </a:solidFill>
              </a:rPr>
              <a:t>ABSTRACT:</a:t>
            </a:r>
            <a:endParaRPr lang="en-IN" dirty="0">
              <a:solidFill>
                <a:schemeClr val="bg2">
                  <a:lumMod val="10000"/>
                </a:schemeClr>
              </a:solidFill>
            </a:endParaRPr>
          </a:p>
        </p:txBody>
      </p:sp>
      <p:sp>
        <p:nvSpPr>
          <p:cNvPr id="3" name="Content Placeholder 2">
            <a:extLst>
              <a:ext uri="{FF2B5EF4-FFF2-40B4-BE49-F238E27FC236}">
                <a16:creationId xmlns:a16="http://schemas.microsoft.com/office/drawing/2014/main" id="{72A5F52C-BAAC-CF05-1665-18884160C162}"/>
              </a:ext>
            </a:extLst>
          </p:cNvPr>
          <p:cNvSpPr>
            <a:spLocks noGrp="1"/>
          </p:cNvSpPr>
          <p:nvPr>
            <p:ph idx="1"/>
          </p:nvPr>
        </p:nvSpPr>
        <p:spPr>
          <a:xfrm>
            <a:off x="838200" y="1554480"/>
            <a:ext cx="10591800" cy="5110480"/>
          </a:xfrm>
        </p:spPr>
        <p:txBody>
          <a:bodyPr>
            <a:normAutofit/>
          </a:bodyPr>
          <a:lstStyle/>
          <a:p>
            <a:r>
              <a:t>The Restaurant Management System using C++ is a simple application that helps manage common restaurant activities. It allows staff to view menu items, take customer orders, calculate bills, update orders, and maintain order records. The project is developed using C++ programming concepts such as functions, conditional statements, loops, classes, structures, and file handling.</a:t>
            </a:r>
          </a:p>
        </p:txBody>
      </p:sp>
      <p:pic>
        <p:nvPicPr>
          <p:cNvPr id="6" name="Picture 5">
            <a:extLst>
              <a:ext uri="{FF2B5EF4-FFF2-40B4-BE49-F238E27FC236}">
                <a16:creationId xmlns:a16="http://schemas.microsoft.com/office/drawing/2014/main" id="{6BC04440-C15A-2C78-4B35-D464EB359C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60" y="107478"/>
            <a:ext cx="2102069" cy="681036"/>
          </a:xfrm>
          <a:prstGeom prst="rect">
            <a:avLst/>
          </a:prstGeom>
        </p:spPr>
      </p:pic>
    </p:spTree>
    <p:extLst>
      <p:ext uri="{BB962C8B-B14F-4D97-AF65-F5344CB8AC3E}">
        <p14:creationId xmlns:p14="http://schemas.microsoft.com/office/powerpoint/2010/main" val="2592761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59CC7-E123-451F-102F-4F0542A7E58D}"/>
              </a:ext>
            </a:extLst>
          </p:cNvPr>
          <p:cNvSpPr>
            <a:spLocks noGrp="1"/>
          </p:cNvSpPr>
          <p:nvPr>
            <p:ph type="title"/>
          </p:nvPr>
        </p:nvSpPr>
        <p:spPr/>
        <p:txBody>
          <a:bodyPr/>
          <a:lstStyle/>
          <a:p>
            <a:pPr algn="ctr"/>
            <a:r>
              <a:rPr lang="en-US" dirty="0"/>
              <a:t>INTRODUCTION:</a:t>
            </a:r>
            <a:endParaRPr lang="en-IN" dirty="0"/>
          </a:p>
        </p:txBody>
      </p:sp>
      <p:sp>
        <p:nvSpPr>
          <p:cNvPr id="3" name="Content Placeholder 2">
            <a:extLst>
              <a:ext uri="{FF2B5EF4-FFF2-40B4-BE49-F238E27FC236}">
                <a16:creationId xmlns:a16="http://schemas.microsoft.com/office/drawing/2014/main" id="{31BB453A-F1D2-49CF-9367-4693A9B8F596}"/>
              </a:ext>
            </a:extLst>
          </p:cNvPr>
          <p:cNvSpPr>
            <a:spLocks noGrp="1"/>
          </p:cNvSpPr>
          <p:nvPr>
            <p:ph idx="1"/>
          </p:nvPr>
        </p:nvSpPr>
        <p:spPr>
          <a:xfrm>
            <a:off x="731520" y="2103120"/>
            <a:ext cx="10622280" cy="3799840"/>
          </a:xfrm>
        </p:spPr>
        <p:txBody>
          <a:bodyPr/>
          <a:lstStyle/>
          <a:p>
            <a:r>
              <a:t>A Restaurant Management System using C++ is a simple software application that helps manage restaurant activities. It allows staff to view menu items, take orders, calculate bills, update orders, and store order details. This project helps us understand how C++ programming concepts can be used to develop a real-world restaurant application.</a:t>
            </a:r>
          </a:p>
        </p:txBody>
      </p:sp>
      <p:pic>
        <p:nvPicPr>
          <p:cNvPr id="6" name="Picture 5">
            <a:extLst>
              <a:ext uri="{FF2B5EF4-FFF2-40B4-BE49-F238E27FC236}">
                <a16:creationId xmlns:a16="http://schemas.microsoft.com/office/drawing/2014/main" id="{A5852A24-215C-D3B7-1019-BC23759610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524" y="117311"/>
            <a:ext cx="2102069" cy="681036"/>
          </a:xfrm>
          <a:prstGeom prst="rect">
            <a:avLst/>
          </a:prstGeom>
        </p:spPr>
      </p:pic>
    </p:spTree>
    <p:extLst>
      <p:ext uri="{BB962C8B-B14F-4D97-AF65-F5344CB8AC3E}">
        <p14:creationId xmlns:p14="http://schemas.microsoft.com/office/powerpoint/2010/main" val="3671853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8E7C0-87C4-7AAB-9F65-7ADAE7B6CBB8}"/>
              </a:ext>
            </a:extLst>
          </p:cNvPr>
          <p:cNvSpPr>
            <a:spLocks noGrp="1"/>
          </p:cNvSpPr>
          <p:nvPr>
            <p:ph type="title"/>
          </p:nvPr>
        </p:nvSpPr>
        <p:spPr/>
        <p:txBody>
          <a:bodyPr/>
          <a:lstStyle/>
          <a:p>
            <a:pPr algn="ctr"/>
            <a:r>
              <a:rPr lang="en-US" dirty="0"/>
              <a:t>PROBLEM STATEMENT:</a:t>
            </a:r>
            <a:endParaRPr lang="en-IN" dirty="0"/>
          </a:p>
        </p:txBody>
      </p:sp>
      <p:sp>
        <p:nvSpPr>
          <p:cNvPr id="3" name="Content Placeholder 2">
            <a:extLst>
              <a:ext uri="{FF2B5EF4-FFF2-40B4-BE49-F238E27FC236}">
                <a16:creationId xmlns:a16="http://schemas.microsoft.com/office/drawing/2014/main" id="{C6732E72-06BD-630F-801F-EC76BD4B6A96}"/>
              </a:ext>
            </a:extLst>
          </p:cNvPr>
          <p:cNvSpPr>
            <a:spLocks noGrp="1"/>
          </p:cNvSpPr>
          <p:nvPr>
            <p:ph idx="1"/>
          </p:nvPr>
        </p:nvSpPr>
        <p:spPr>
          <a:xfrm>
            <a:off x="838200" y="2346959"/>
            <a:ext cx="10515600" cy="2987041"/>
          </a:xfrm>
        </p:spPr>
        <p:txBody>
          <a:bodyPr/>
          <a:lstStyle/>
          <a:p>
            <a:r>
              <a:t>The main problem addressed by this project is to create a simple and efficient system for managing restaurant orders without relying on manual records. The system should allow staff to view menu items, take customer orders, calculate bills, and manage order details. The project aims to provide an easy-to-use restaurant management system while applying basic C++ programming concepts.</a:t>
            </a:r>
          </a:p>
        </p:txBody>
      </p:sp>
      <p:pic>
        <p:nvPicPr>
          <p:cNvPr id="6" name="Picture 5">
            <a:extLst>
              <a:ext uri="{FF2B5EF4-FFF2-40B4-BE49-F238E27FC236}">
                <a16:creationId xmlns:a16="http://schemas.microsoft.com/office/drawing/2014/main" id="{212F078C-D7BC-B9C2-39ED-2182BA23D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57" y="107478"/>
            <a:ext cx="2102069" cy="681036"/>
          </a:xfrm>
          <a:prstGeom prst="rect">
            <a:avLst/>
          </a:prstGeom>
        </p:spPr>
      </p:pic>
    </p:spTree>
    <p:extLst>
      <p:ext uri="{BB962C8B-B14F-4D97-AF65-F5344CB8AC3E}">
        <p14:creationId xmlns:p14="http://schemas.microsoft.com/office/powerpoint/2010/main" val="4143443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A0D71-1464-1C6E-47B2-7BD71B61353D}"/>
              </a:ext>
            </a:extLst>
          </p:cNvPr>
          <p:cNvSpPr>
            <a:spLocks noGrp="1"/>
          </p:cNvSpPr>
          <p:nvPr>
            <p:ph type="title"/>
          </p:nvPr>
        </p:nvSpPr>
        <p:spPr>
          <a:xfrm>
            <a:off x="838200" y="495737"/>
            <a:ext cx="10515600" cy="825501"/>
          </a:xfrm>
        </p:spPr>
        <p:txBody>
          <a:bodyPr>
            <a:normAutofit/>
          </a:bodyPr>
          <a:lstStyle/>
          <a:p>
            <a:pPr algn="ctr"/>
            <a:r>
              <a:rPr lang="en-IN" dirty="0"/>
              <a:t>Objectives:</a:t>
            </a:r>
          </a:p>
        </p:txBody>
      </p:sp>
      <p:sp>
        <p:nvSpPr>
          <p:cNvPr id="4" name="Rectangle 1">
            <a:extLst>
              <a:ext uri="{FF2B5EF4-FFF2-40B4-BE49-F238E27FC236}">
                <a16:creationId xmlns:a16="http://schemas.microsoft.com/office/drawing/2014/main" id="{967E244A-8DF6-48BC-F2C6-5787182F2B09}"/>
              </a:ext>
            </a:extLst>
          </p:cNvPr>
          <p:cNvSpPr>
            <a:spLocks noGrp="1" noChangeArrowheads="1"/>
          </p:cNvSpPr>
          <p:nvPr>
            <p:ph idx="1"/>
          </p:nvPr>
        </p:nvSpPr>
        <p:spPr bwMode="auto">
          <a:xfrm>
            <a:off x="101600" y="1897769"/>
            <a:ext cx="11806614"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To create a simple ATM system using 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To allow users to check their order total.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To provide options for cash remove item and add item.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To allow users to change their Order ID securely.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To perform ATM orders quickly and accurately.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To use C++ concepts like classes, objects, functions, and loops.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Arial" panose="020B0604020202020204" pitchFamily="34" charset="0"/>
              </a:rPr>
              <a:t>To provide a simple and user-friendly ATM interface</a:t>
            </a:r>
            <a:r>
              <a:rPr kumimoji="0" lang="en-US" altLang="en-US" sz="3600" i="0" u="none" strike="noStrike" cap="none" normalizeH="0" baseline="0" dirty="0">
                <a:ln>
                  <a:noFill/>
                </a:ln>
                <a:solidFill>
                  <a:schemeClr val="tx1"/>
                </a:solidFill>
                <a:effectLst/>
                <a:latin typeface="Arial" panose="020B0604020202020204" pitchFamily="34" charset="0"/>
              </a:rPr>
              <a:t>. </a:t>
            </a:r>
          </a:p>
        </p:txBody>
      </p:sp>
      <p:pic>
        <p:nvPicPr>
          <p:cNvPr id="5" name="Picture 4">
            <a:extLst>
              <a:ext uri="{FF2B5EF4-FFF2-40B4-BE49-F238E27FC236}">
                <a16:creationId xmlns:a16="http://schemas.microsoft.com/office/drawing/2014/main" id="{29B29EAE-2D1C-E520-DABE-8F3CFD1FEB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290" y="165426"/>
            <a:ext cx="2354317" cy="580807"/>
          </a:xfrm>
          <a:prstGeom prst="rect">
            <a:avLst/>
          </a:prstGeom>
        </p:spPr>
      </p:pic>
    </p:spTree>
    <p:extLst>
      <p:ext uri="{BB962C8B-B14F-4D97-AF65-F5344CB8AC3E}">
        <p14:creationId xmlns:p14="http://schemas.microsoft.com/office/powerpoint/2010/main" val="371773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Generated image 1">
            <a:extLst>
              <a:ext uri="{FF2B5EF4-FFF2-40B4-BE49-F238E27FC236}">
                <a16:creationId xmlns:a16="http://schemas.microsoft.com/office/drawing/2014/main" id="{CE902A4C-4E64-7EA2-37E4-722CE730F3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121856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343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C65FD-FA2C-529E-EEA8-7A41A91E0D6D}"/>
              </a:ext>
            </a:extLst>
          </p:cNvPr>
          <p:cNvSpPr>
            <a:spLocks noGrp="1"/>
          </p:cNvSpPr>
          <p:nvPr>
            <p:ph type="title"/>
          </p:nvPr>
        </p:nvSpPr>
        <p:spPr>
          <a:xfrm>
            <a:off x="838200" y="1"/>
            <a:ext cx="10515600" cy="1232451"/>
          </a:xfrm>
        </p:spPr>
        <p:txBody>
          <a:bodyPr/>
          <a:lstStyle/>
          <a:p>
            <a:pPr algn="ctr"/>
            <a:r>
              <a:rPr lang="en-IN" dirty="0"/>
              <a:t>Inputs:</a:t>
            </a:r>
          </a:p>
        </p:txBody>
      </p:sp>
      <p:graphicFrame>
        <p:nvGraphicFramePr>
          <p:cNvPr id="4" name="Content Placeholder 3">
            <a:extLst>
              <a:ext uri="{FF2B5EF4-FFF2-40B4-BE49-F238E27FC236}">
                <a16:creationId xmlns:a16="http://schemas.microsoft.com/office/drawing/2014/main" id="{AD0398D4-1690-A255-3571-CB6CCC08BEE1}"/>
              </a:ext>
            </a:extLst>
          </p:cNvPr>
          <p:cNvGraphicFramePr>
            <a:graphicFrameLocks noGrp="1"/>
          </p:cNvGraphicFramePr>
          <p:nvPr>
            <p:ph idx="1"/>
            <p:extLst>
              <p:ext uri="{D42A27DB-BD31-4B8C-83A1-F6EECF244321}">
                <p14:modId xmlns:p14="http://schemas.microsoft.com/office/powerpoint/2010/main" val="3950003557"/>
              </p:ext>
            </p:extLst>
          </p:nvPr>
        </p:nvGraphicFramePr>
        <p:xfrm>
          <a:off x="750093" y="1166191"/>
          <a:ext cx="10898568" cy="5022570"/>
        </p:xfrm>
        <a:graphic>
          <a:graphicData uri="http://schemas.openxmlformats.org/drawingml/2006/table">
            <a:tbl>
              <a:tblPr/>
              <a:tblGrid>
                <a:gridCol w="5449284">
                  <a:extLst>
                    <a:ext uri="{9D8B030D-6E8A-4147-A177-3AD203B41FA5}">
                      <a16:colId xmlns:a16="http://schemas.microsoft.com/office/drawing/2014/main" val="3637441673"/>
                    </a:ext>
                  </a:extLst>
                </a:gridCol>
                <a:gridCol w="5449284">
                  <a:extLst>
                    <a:ext uri="{9D8B030D-6E8A-4147-A177-3AD203B41FA5}">
                      <a16:colId xmlns:a16="http://schemas.microsoft.com/office/drawing/2014/main" val="371748390"/>
                    </a:ext>
                  </a:extLst>
                </a:gridCol>
              </a:tblGrid>
              <a:tr h="502257">
                <a:tc>
                  <a:txBody>
                    <a:bodyPr/>
                    <a:lstStyle/>
                    <a:p>
                      <a:r>
                        <a:rPr lang="en-IN" b="1"/>
                        <a:t>Operation</a:t>
                      </a:r>
                      <a:endParaRPr lang="en-IN"/>
                    </a:p>
                  </a:txBody>
                  <a:tcPr anchor="ctr">
                    <a:lnL>
                      <a:noFill/>
                    </a:lnL>
                    <a:lnR>
                      <a:noFill/>
                    </a:lnR>
                    <a:lnT>
                      <a:noFill/>
                    </a:lnT>
                    <a:lnB>
                      <a:noFill/>
                    </a:lnB>
                  </a:tcPr>
                </a:tc>
                <a:tc>
                  <a:txBody>
                    <a:bodyPr/>
                    <a:lstStyle/>
                    <a:p>
                      <a:r>
                        <a:rPr lang="en-IN" b="1"/>
                        <a:t>Input</a:t>
                      </a:r>
                      <a:endParaRPr lang="en-IN"/>
                    </a:p>
                  </a:txBody>
                  <a:tcPr anchor="ctr">
                    <a:lnL>
                      <a:noFill/>
                    </a:lnL>
                    <a:lnR>
                      <a:noFill/>
                    </a:lnR>
                    <a:lnT>
                      <a:noFill/>
                    </a:lnT>
                    <a:lnB>
                      <a:noFill/>
                    </a:lnB>
                  </a:tcPr>
                </a:tc>
                <a:extLst>
                  <a:ext uri="{0D108BD9-81ED-4DB2-BD59-A6C34878D82A}">
                    <a16:rowId xmlns:a16="http://schemas.microsoft.com/office/drawing/2014/main" val="1434900597"/>
                  </a:ext>
                </a:extLst>
              </a:tr>
              <a:tr h="502257">
                <a:tc>
                  <a:txBody>
                    <a:bodyPr/>
                    <a:lstStyle/>
                    <a:p>
                      <a:r>
                        <a:rPr lang="en-IN"/>
                        <a:t>Account Number</a:t>
                      </a:r>
                    </a:p>
                  </a:txBody>
                  <a:tcPr anchor="ctr">
                    <a:lnL>
                      <a:noFill/>
                    </a:lnL>
                    <a:lnR>
                      <a:noFill/>
                    </a:lnR>
                    <a:lnT>
                      <a:noFill/>
                    </a:lnT>
                    <a:lnB>
                      <a:noFill/>
                    </a:lnB>
                  </a:tcPr>
                </a:tc>
                <a:tc>
                  <a:txBody>
                    <a:bodyPr/>
                    <a:lstStyle/>
                    <a:p>
                      <a:r>
                        <a:rPr lang="en-IN" dirty="0"/>
                        <a:t>1001</a:t>
                      </a:r>
                    </a:p>
                  </a:txBody>
                  <a:tcPr anchor="ctr">
                    <a:lnL>
                      <a:noFill/>
                    </a:lnL>
                    <a:lnR>
                      <a:noFill/>
                    </a:lnR>
                    <a:lnT>
                      <a:noFill/>
                    </a:lnT>
                    <a:lnB>
                      <a:noFill/>
                    </a:lnB>
                  </a:tcPr>
                </a:tc>
                <a:extLst>
                  <a:ext uri="{0D108BD9-81ED-4DB2-BD59-A6C34878D82A}">
                    <a16:rowId xmlns:a16="http://schemas.microsoft.com/office/drawing/2014/main" val="3994736848"/>
                  </a:ext>
                </a:extLst>
              </a:tr>
              <a:tr h="502257">
                <a:tc>
                  <a:txBody>
                    <a:bodyPr/>
                    <a:lstStyle/>
                    <a:p>
                      <a:r>
                        <a:rPr lang="en-IN"/>
                        <a:t>PIN</a:t>
                      </a:r>
                    </a:p>
                  </a:txBody>
                  <a:tcPr anchor="ctr">
                    <a:lnL>
                      <a:noFill/>
                    </a:lnL>
                    <a:lnR>
                      <a:noFill/>
                    </a:lnR>
                    <a:lnT>
                      <a:noFill/>
                    </a:lnT>
                    <a:lnB>
                      <a:noFill/>
                    </a:lnB>
                  </a:tcPr>
                </a:tc>
                <a:tc>
                  <a:txBody>
                    <a:bodyPr/>
                    <a:lstStyle/>
                    <a:p>
                      <a:r>
                        <a:rPr lang="en-IN"/>
                        <a:t>1234</a:t>
                      </a:r>
                    </a:p>
                  </a:txBody>
                  <a:tcPr anchor="ctr">
                    <a:lnL>
                      <a:noFill/>
                    </a:lnL>
                    <a:lnR>
                      <a:noFill/>
                    </a:lnR>
                    <a:lnT>
                      <a:noFill/>
                    </a:lnT>
                    <a:lnB>
                      <a:noFill/>
                    </a:lnB>
                  </a:tcPr>
                </a:tc>
                <a:extLst>
                  <a:ext uri="{0D108BD9-81ED-4DB2-BD59-A6C34878D82A}">
                    <a16:rowId xmlns:a16="http://schemas.microsoft.com/office/drawing/2014/main" val="819310738"/>
                  </a:ext>
                </a:extLst>
              </a:tr>
              <a:tr h="502257">
                <a:tc>
                  <a:txBody>
                    <a:bodyPr/>
                    <a:lstStyle/>
                    <a:p>
                      <a:r>
                        <a:rPr lang="en-IN"/>
                        <a:t>Select Option</a:t>
                      </a:r>
                    </a:p>
                  </a:txBody>
                  <a:tcPr anchor="ctr">
                    <a:lnL>
                      <a:noFill/>
                    </a:lnL>
                    <a:lnR>
                      <a:noFill/>
                    </a:lnR>
                    <a:lnT>
                      <a:noFill/>
                    </a:lnT>
                    <a:lnB>
                      <a:noFill/>
                    </a:lnB>
                  </a:tcPr>
                </a:tc>
                <a:tc>
                  <a:txBody>
                    <a:bodyPr/>
                    <a:lstStyle/>
                    <a:p>
                      <a:r>
                        <a:rPr lang="en-IN"/>
                        <a:t>1. Balance Check</a:t>
                      </a:r>
                    </a:p>
                  </a:txBody>
                  <a:tcPr anchor="ctr">
                    <a:lnL>
                      <a:noFill/>
                    </a:lnL>
                    <a:lnR>
                      <a:noFill/>
                    </a:lnR>
                    <a:lnT>
                      <a:noFill/>
                    </a:lnT>
                    <a:lnB>
                      <a:noFill/>
                    </a:lnB>
                  </a:tcPr>
                </a:tc>
                <a:extLst>
                  <a:ext uri="{0D108BD9-81ED-4DB2-BD59-A6C34878D82A}">
                    <a16:rowId xmlns:a16="http://schemas.microsoft.com/office/drawing/2014/main" val="4205328742"/>
                  </a:ext>
                </a:extLst>
              </a:tr>
              <a:tr h="502257">
                <a:tc>
                  <a:txBody>
                    <a:bodyPr/>
                    <a:lstStyle/>
                    <a:p>
                      <a:r>
                        <a:rPr lang="en-IN"/>
                        <a:t>Withdrawal Amount</a:t>
                      </a:r>
                    </a:p>
                  </a:txBody>
                  <a:tcPr anchor="ctr">
                    <a:lnL>
                      <a:noFill/>
                    </a:lnL>
                    <a:lnR>
                      <a:noFill/>
                    </a:lnR>
                    <a:lnT>
                      <a:noFill/>
                    </a:lnT>
                    <a:lnB>
                      <a:noFill/>
                    </a:lnB>
                  </a:tcPr>
                </a:tc>
                <a:tc>
                  <a:txBody>
                    <a:bodyPr/>
                    <a:lstStyle/>
                    <a:p>
                      <a:r>
                        <a:rPr lang="en-IN"/>
                        <a:t>2000</a:t>
                      </a:r>
                    </a:p>
                  </a:txBody>
                  <a:tcPr anchor="ctr">
                    <a:lnL>
                      <a:noFill/>
                    </a:lnL>
                    <a:lnR>
                      <a:noFill/>
                    </a:lnR>
                    <a:lnT>
                      <a:noFill/>
                    </a:lnT>
                    <a:lnB>
                      <a:noFill/>
                    </a:lnB>
                  </a:tcPr>
                </a:tc>
                <a:extLst>
                  <a:ext uri="{0D108BD9-81ED-4DB2-BD59-A6C34878D82A}">
                    <a16:rowId xmlns:a16="http://schemas.microsoft.com/office/drawing/2014/main" val="3998744540"/>
                  </a:ext>
                </a:extLst>
              </a:tr>
              <a:tr h="502257">
                <a:tc>
                  <a:txBody>
                    <a:bodyPr/>
                    <a:lstStyle/>
                    <a:p>
                      <a:r>
                        <a:rPr lang="en-IN"/>
                        <a:t>Deposit Amount</a:t>
                      </a:r>
                    </a:p>
                  </a:txBody>
                  <a:tcPr anchor="ctr">
                    <a:lnL>
                      <a:noFill/>
                    </a:lnL>
                    <a:lnR>
                      <a:noFill/>
                    </a:lnR>
                    <a:lnT>
                      <a:noFill/>
                    </a:lnT>
                    <a:lnB>
                      <a:noFill/>
                    </a:lnB>
                  </a:tcPr>
                </a:tc>
                <a:tc>
                  <a:txBody>
                    <a:bodyPr/>
                    <a:lstStyle/>
                    <a:p>
                      <a:r>
                        <a:rPr lang="en-IN"/>
                        <a:t>5000</a:t>
                      </a:r>
                    </a:p>
                  </a:txBody>
                  <a:tcPr anchor="ctr">
                    <a:lnL>
                      <a:noFill/>
                    </a:lnL>
                    <a:lnR>
                      <a:noFill/>
                    </a:lnR>
                    <a:lnT>
                      <a:noFill/>
                    </a:lnT>
                    <a:lnB>
                      <a:noFill/>
                    </a:lnB>
                  </a:tcPr>
                </a:tc>
                <a:extLst>
                  <a:ext uri="{0D108BD9-81ED-4DB2-BD59-A6C34878D82A}">
                    <a16:rowId xmlns:a16="http://schemas.microsoft.com/office/drawing/2014/main" val="1322399636"/>
                  </a:ext>
                </a:extLst>
              </a:tr>
              <a:tr h="502257">
                <a:tc>
                  <a:txBody>
                    <a:bodyPr/>
                    <a:lstStyle/>
                    <a:p>
                      <a:r>
                        <a:rPr lang="en-IN"/>
                        <a:t>Transfer Account Number</a:t>
                      </a:r>
                    </a:p>
                  </a:txBody>
                  <a:tcPr anchor="ctr">
                    <a:lnL>
                      <a:noFill/>
                    </a:lnL>
                    <a:lnR>
                      <a:noFill/>
                    </a:lnR>
                    <a:lnT>
                      <a:noFill/>
                    </a:lnT>
                    <a:lnB>
                      <a:noFill/>
                    </a:lnB>
                  </a:tcPr>
                </a:tc>
                <a:tc>
                  <a:txBody>
                    <a:bodyPr/>
                    <a:lstStyle/>
                    <a:p>
                      <a:r>
                        <a:rPr lang="en-IN" dirty="0"/>
                        <a:t>1002</a:t>
                      </a:r>
                    </a:p>
                  </a:txBody>
                  <a:tcPr anchor="ctr">
                    <a:lnL>
                      <a:noFill/>
                    </a:lnL>
                    <a:lnR>
                      <a:noFill/>
                    </a:lnR>
                    <a:lnT>
                      <a:noFill/>
                    </a:lnT>
                    <a:lnB>
                      <a:noFill/>
                    </a:lnB>
                  </a:tcPr>
                </a:tc>
                <a:extLst>
                  <a:ext uri="{0D108BD9-81ED-4DB2-BD59-A6C34878D82A}">
                    <a16:rowId xmlns:a16="http://schemas.microsoft.com/office/drawing/2014/main" val="1412881524"/>
                  </a:ext>
                </a:extLst>
              </a:tr>
              <a:tr h="502257">
                <a:tc>
                  <a:txBody>
                    <a:bodyPr/>
                    <a:lstStyle/>
                    <a:p>
                      <a:r>
                        <a:rPr lang="en-IN"/>
                        <a:t>Transfer Amount</a:t>
                      </a:r>
                    </a:p>
                  </a:txBody>
                  <a:tcPr anchor="ctr">
                    <a:lnL>
                      <a:noFill/>
                    </a:lnL>
                    <a:lnR>
                      <a:noFill/>
                    </a:lnR>
                    <a:lnT>
                      <a:noFill/>
                    </a:lnT>
                    <a:lnB>
                      <a:noFill/>
                    </a:lnB>
                  </a:tcPr>
                </a:tc>
                <a:tc>
                  <a:txBody>
                    <a:bodyPr/>
                    <a:lstStyle/>
                    <a:p>
                      <a:r>
                        <a:rPr lang="en-IN"/>
                        <a:t>1000</a:t>
                      </a:r>
                    </a:p>
                  </a:txBody>
                  <a:tcPr anchor="ctr">
                    <a:lnL>
                      <a:noFill/>
                    </a:lnL>
                    <a:lnR>
                      <a:noFill/>
                    </a:lnR>
                    <a:lnT>
                      <a:noFill/>
                    </a:lnT>
                    <a:lnB>
                      <a:noFill/>
                    </a:lnB>
                  </a:tcPr>
                </a:tc>
                <a:extLst>
                  <a:ext uri="{0D108BD9-81ED-4DB2-BD59-A6C34878D82A}">
                    <a16:rowId xmlns:a16="http://schemas.microsoft.com/office/drawing/2014/main" val="606007600"/>
                  </a:ext>
                </a:extLst>
              </a:tr>
              <a:tr h="502257">
                <a:tc>
                  <a:txBody>
                    <a:bodyPr/>
                    <a:lstStyle/>
                    <a:p>
                      <a:r>
                        <a:rPr lang="en-IN" dirty="0"/>
                        <a:t>Logout</a:t>
                      </a:r>
                    </a:p>
                  </a:txBody>
                  <a:tcPr anchor="ctr">
                    <a:lnL>
                      <a:noFill/>
                    </a:lnL>
                    <a:lnR>
                      <a:noFill/>
                    </a:lnR>
                    <a:lnT>
                      <a:noFill/>
                    </a:lnT>
                    <a:lnB>
                      <a:noFill/>
                    </a:lnB>
                  </a:tcPr>
                </a:tc>
                <a:tc>
                  <a:txBody>
                    <a:bodyPr/>
                    <a:lstStyle/>
                    <a:p>
                      <a:r>
                        <a:rPr lang="en-IN" dirty="0" err="1"/>
                        <a:t>Loggedout</a:t>
                      </a:r>
                      <a:endParaRPr lang="en-IN" dirty="0"/>
                    </a:p>
                  </a:txBody>
                  <a:tcPr anchor="ctr">
                    <a:lnL>
                      <a:noFill/>
                    </a:lnL>
                    <a:lnR>
                      <a:noFill/>
                    </a:lnR>
                    <a:lnT>
                      <a:noFill/>
                    </a:lnT>
                    <a:lnB>
                      <a:noFill/>
                    </a:lnB>
                  </a:tcPr>
                </a:tc>
                <a:extLst>
                  <a:ext uri="{0D108BD9-81ED-4DB2-BD59-A6C34878D82A}">
                    <a16:rowId xmlns:a16="http://schemas.microsoft.com/office/drawing/2014/main" val="2395976856"/>
                  </a:ext>
                </a:extLst>
              </a:tr>
              <a:tr h="502257">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2638474955"/>
                  </a:ext>
                </a:extLst>
              </a:tr>
            </a:tbl>
          </a:graphicData>
        </a:graphic>
      </p:graphicFrame>
      <p:pic>
        <p:nvPicPr>
          <p:cNvPr id="3" name="Picture 2">
            <a:extLst>
              <a:ext uri="{FF2B5EF4-FFF2-40B4-BE49-F238E27FC236}">
                <a16:creationId xmlns:a16="http://schemas.microsoft.com/office/drawing/2014/main" id="{C757D625-52CD-F719-52F1-19E601C7FC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656" y="199697"/>
            <a:ext cx="2259723" cy="618814"/>
          </a:xfrm>
          <a:prstGeom prst="rect">
            <a:avLst/>
          </a:prstGeom>
        </p:spPr>
      </p:pic>
    </p:spTree>
    <p:extLst>
      <p:ext uri="{BB962C8B-B14F-4D97-AF65-F5344CB8AC3E}">
        <p14:creationId xmlns:p14="http://schemas.microsoft.com/office/powerpoint/2010/main" val="3875679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F9D5D-D615-3CAD-1805-AE6E3B20857A}"/>
              </a:ext>
            </a:extLst>
          </p:cNvPr>
          <p:cNvSpPr>
            <a:spLocks noGrp="1"/>
          </p:cNvSpPr>
          <p:nvPr>
            <p:ph type="title"/>
          </p:nvPr>
        </p:nvSpPr>
        <p:spPr>
          <a:xfrm>
            <a:off x="1250730" y="441434"/>
            <a:ext cx="10103069" cy="840828"/>
          </a:xfrm>
        </p:spPr>
        <p:txBody>
          <a:bodyPr>
            <a:normAutofit/>
          </a:bodyPr>
          <a:lstStyle/>
          <a:p>
            <a:pPr algn="ctr"/>
            <a:r>
              <a:rPr lang="en-IN" dirty="0"/>
              <a:t>Expected Outputs:</a:t>
            </a:r>
          </a:p>
        </p:txBody>
      </p:sp>
      <p:pic>
        <p:nvPicPr>
          <p:cNvPr id="4" name="Picture 3">
            <a:extLst>
              <a:ext uri="{FF2B5EF4-FFF2-40B4-BE49-F238E27FC236}">
                <a16:creationId xmlns:a16="http://schemas.microsoft.com/office/drawing/2014/main" id="{C22C2E9F-DC94-0DF5-8F99-5EA92F86F6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634" y="-10509"/>
            <a:ext cx="2144111" cy="556591"/>
          </a:xfrm>
          <a:prstGeom prst="rect">
            <a:avLst/>
          </a:prstGeom>
        </p:spPr>
      </p:pic>
      <p:sp>
        <p:nvSpPr>
          <p:cNvPr id="3" name="TextBox 2">
            <a:extLst>
              <a:ext uri="{FF2B5EF4-FFF2-40B4-BE49-F238E27FC236}">
                <a16:creationId xmlns:a16="http://schemas.microsoft.com/office/drawing/2014/main" id="{4B7B046D-5B20-8591-E70A-AAAFBDF06092}"/>
              </a:ext>
            </a:extLst>
          </p:cNvPr>
          <p:cNvSpPr txBox="1"/>
          <p:nvPr/>
        </p:nvSpPr>
        <p:spPr>
          <a:xfrm>
            <a:off x="4247535" y="1995948"/>
            <a:ext cx="6832704" cy="6186309"/>
          </a:xfrm>
          <a:prstGeom prst="rect">
            <a:avLst/>
          </a:prstGeom>
          <a:noFill/>
        </p:spPr>
        <p:txBody>
          <a:bodyPr wrap="none" rtlCol="0">
            <a:spAutoFit/>
          </a:bodyPr>
          <a:lstStyle/>
          <a:p>
            <a:r>
              <a:t>1. Order Entry</a:t>
            </a:r>
            <a:br/>
            <a:r>
              <a:t>The staff enters the customer and table details and selects menu items.</a:t>
            </a:r>
            <a:br/>
            <a:br/>
            <a:r>
              <a:t>2. Main Dashboard</a:t>
            </a:r>
            <a:br/>
            <a:r>
              <a:t>The dashboard shows options such as View Menu, Add Item, Remove Item, View Order, Calculate Bill, and Exit.</a:t>
            </a:r>
            <a:br/>
            <a:br/>
            <a:r>
              <a:t>3. Feature Operations</a:t>
            </a:r>
            <a:br/>
            <a:r>
              <a:t>View Menu: Displays available food items and prices.</a:t>
            </a:r>
            <a:br/>
            <a:r>
              <a:t>Add Item: Adds a selected food item to the order.</a:t>
            </a:r>
            <a:br/>
            <a:r>
              <a:t>Remove Item: Removes an item from the order.</a:t>
            </a:r>
            <a:br/>
            <a:r>
              <a:t>Calculate Bill: Calculates the final order amount.</a:t>
            </a:r>
            <a:br/>
            <a:r>
              <a:t>Exit: Closes the restaurant screen.</a:t>
            </a:r>
            <a:br/>
            <a:br/>
            <a:r>
              <a:t>4. Order Summary</a:t>
            </a:r>
            <a:br/>
            <a:r>
              <a:t>The selected items, quantities, and final bill are displayed.</a:t>
            </a:r>
            <a:br/>
            <a:br/>
            <a:r>
              <a:t>5. Completion</a:t>
            </a:r>
            <a:br/>
            <a:r>
              <a:t>The order is saved and the system exits safely.</a:t>
            </a:r>
          </a:p>
        </p:txBody>
      </p:sp>
    </p:spTree>
    <p:extLst>
      <p:ext uri="{BB962C8B-B14F-4D97-AF65-F5344CB8AC3E}">
        <p14:creationId xmlns:p14="http://schemas.microsoft.com/office/powerpoint/2010/main" val="255585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385D-7929-96E0-2E08-FBC5AC2D4C4C}"/>
              </a:ext>
            </a:extLst>
          </p:cNvPr>
          <p:cNvSpPr>
            <a:spLocks noGrp="1"/>
          </p:cNvSpPr>
          <p:nvPr>
            <p:ph type="title"/>
          </p:nvPr>
        </p:nvSpPr>
        <p:spPr>
          <a:xfrm>
            <a:off x="838200" y="1"/>
            <a:ext cx="10515600" cy="914400"/>
          </a:xfrm>
        </p:spPr>
        <p:txBody>
          <a:bodyPr/>
          <a:lstStyle/>
          <a:p>
            <a:pPr algn="ctr"/>
            <a:r>
              <a:rPr lang="en-IN" dirty="0"/>
              <a:t>Algorithm:</a:t>
            </a:r>
          </a:p>
        </p:txBody>
      </p:sp>
      <p:sp>
        <p:nvSpPr>
          <p:cNvPr id="4" name="Rectangle 1">
            <a:extLst>
              <a:ext uri="{FF2B5EF4-FFF2-40B4-BE49-F238E27FC236}">
                <a16:creationId xmlns:a16="http://schemas.microsoft.com/office/drawing/2014/main" id="{EAD986B2-6ADB-B639-618F-2B9492E91668}"/>
              </a:ext>
            </a:extLst>
          </p:cNvPr>
          <p:cNvSpPr>
            <a:spLocks noGrp="1" noChangeArrowheads="1"/>
          </p:cNvSpPr>
          <p:nvPr>
            <p:ph idx="1"/>
          </p:nvPr>
        </p:nvSpPr>
        <p:spPr bwMode="auto">
          <a:xfrm>
            <a:off x="620110" y="733245"/>
            <a:ext cx="972206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Start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Enter the </a:t>
            </a:r>
            <a:r>
              <a:rPr kumimoji="0" lang="en-US" altLang="en-US" b="1" i="0" u="none" strike="noStrike" cap="none" normalizeH="0" baseline="0" dirty="0">
                <a:ln>
                  <a:noFill/>
                </a:ln>
                <a:solidFill>
                  <a:schemeClr val="tx1"/>
                </a:solidFill>
                <a:effectLst/>
                <a:latin typeface="Arial" panose="020B0604020202020204" pitchFamily="34" charset="0"/>
              </a:rPr>
              <a:t>Order ID</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Check whether the Order ID is correct.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If the Order ID is correct, display the restaurant menu.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Select an option: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Check 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Add Item Money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Remove Item Money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Perform the selected operation.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Display the updated order total if required.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Repeat the menu until the user selects </a:t>
            </a:r>
            <a:r>
              <a:rPr kumimoji="0" lang="en-US" altLang="en-US" b="1" i="0" u="none" strike="noStrike" cap="none" normalizeH="0" baseline="0" dirty="0">
                <a:ln>
                  <a:noFill/>
                </a:ln>
                <a:solidFill>
                  <a:schemeClr val="tx1"/>
                </a:solidFill>
                <a:effectLst/>
                <a:latin typeface="Arial" panose="020B0604020202020204" pitchFamily="34" charset="0"/>
              </a:rPr>
              <a:t>Exit</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Display </a:t>
            </a:r>
            <a:r>
              <a:rPr kumimoji="0" lang="en-US" altLang="en-US" b="1" i="0" u="none" strike="noStrike" cap="none" normalizeH="0" baseline="0" dirty="0">
                <a:ln>
                  <a:noFill/>
                </a:ln>
                <a:solidFill>
                  <a:schemeClr val="tx1"/>
                </a:solidFill>
                <a:effectLst/>
                <a:latin typeface="Arial" panose="020B0604020202020204" pitchFamily="34" charset="0"/>
              </a:rPr>
              <a:t>Thank You</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Stop</a:t>
            </a:r>
            <a:r>
              <a:rPr kumimoji="0" lang="en-US" altLang="en-US" b="0" i="0" u="none" strike="noStrike" cap="none" normalizeH="0" baseline="0" dirty="0">
                <a:ln>
                  <a:noFill/>
                </a:ln>
                <a:solidFill>
                  <a:schemeClr val="tx1"/>
                </a:solidFill>
                <a:effectLst/>
                <a:latin typeface="Arial" panose="020B0604020202020204" pitchFamily="34" charset="0"/>
              </a:rPr>
              <a:t>. </a:t>
            </a:r>
          </a:p>
        </p:txBody>
      </p:sp>
      <p:pic>
        <p:nvPicPr>
          <p:cNvPr id="3" name="Picture 2">
            <a:extLst>
              <a:ext uri="{FF2B5EF4-FFF2-40B4-BE49-F238E27FC236}">
                <a16:creationId xmlns:a16="http://schemas.microsoft.com/office/drawing/2014/main" id="{3261EE41-28D7-1933-18CC-9389BE0F4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31" y="-10509"/>
            <a:ext cx="2217683" cy="681036"/>
          </a:xfrm>
          <a:prstGeom prst="rect">
            <a:avLst/>
          </a:prstGeom>
        </p:spPr>
      </p:pic>
    </p:spTree>
    <p:extLst>
      <p:ext uri="{BB962C8B-B14F-4D97-AF65-F5344CB8AC3E}">
        <p14:creationId xmlns:p14="http://schemas.microsoft.com/office/powerpoint/2010/main" val="2462691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7D1D-FC99-6E27-BCE4-A9A1EC18C0E1}"/>
              </a:ext>
            </a:extLst>
          </p:cNvPr>
          <p:cNvSpPr>
            <a:spLocks noGrp="1"/>
          </p:cNvSpPr>
          <p:nvPr>
            <p:ph type="title"/>
          </p:nvPr>
        </p:nvSpPr>
        <p:spPr>
          <a:xfrm>
            <a:off x="2576052" y="1"/>
            <a:ext cx="8613058" cy="987971"/>
          </a:xfrm>
        </p:spPr>
        <p:txBody>
          <a:bodyPr/>
          <a:lstStyle/>
          <a:p>
            <a:pPr algn="ctr"/>
            <a:r>
              <a:rPr lang="en-IN" dirty="0"/>
              <a:t>FLOWCHART:</a:t>
            </a:r>
          </a:p>
        </p:txBody>
      </p:sp>
      <p:pic>
        <p:nvPicPr>
          <p:cNvPr id="9218" name="Picture 2" descr="Generated image 1">
            <a:extLst>
              <a:ext uri="{FF2B5EF4-FFF2-40B4-BE49-F238E27FC236}">
                <a16:creationId xmlns:a16="http://schemas.microsoft.com/office/drawing/2014/main" id="{4D781218-289C-D48C-7828-7C324737E6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284" y="1278194"/>
            <a:ext cx="8345129" cy="513243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3E5F700-215E-BF77-B263-AD52450E36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819" y="86117"/>
            <a:ext cx="1912883" cy="483476"/>
          </a:xfrm>
          <a:prstGeom prst="rect">
            <a:avLst/>
          </a:prstGeom>
        </p:spPr>
      </p:pic>
    </p:spTree>
    <p:extLst>
      <p:ext uri="{BB962C8B-B14F-4D97-AF65-F5344CB8AC3E}">
        <p14:creationId xmlns:p14="http://schemas.microsoft.com/office/powerpoint/2010/main" val="2439699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79ED5-950B-7E5C-FC85-2BB2E4218C71}"/>
              </a:ext>
            </a:extLst>
          </p:cNvPr>
          <p:cNvSpPr>
            <a:spLocks noGrp="1"/>
          </p:cNvSpPr>
          <p:nvPr>
            <p:ph type="title"/>
          </p:nvPr>
        </p:nvSpPr>
        <p:spPr>
          <a:xfrm>
            <a:off x="2107094" y="0"/>
            <a:ext cx="9167191" cy="901148"/>
          </a:xfrm>
        </p:spPr>
        <p:txBody>
          <a:bodyPr/>
          <a:lstStyle/>
          <a:p>
            <a:r>
              <a:rPr lang="en-IN" dirty="0"/>
              <a:t>C++ Concepts and STL Used</a:t>
            </a:r>
          </a:p>
        </p:txBody>
      </p:sp>
      <p:sp>
        <p:nvSpPr>
          <p:cNvPr id="3" name="Content Placeholder 2">
            <a:extLst>
              <a:ext uri="{FF2B5EF4-FFF2-40B4-BE49-F238E27FC236}">
                <a16:creationId xmlns:a16="http://schemas.microsoft.com/office/drawing/2014/main" id="{1100186F-5E0A-6F48-5385-839020457353}"/>
              </a:ext>
            </a:extLst>
          </p:cNvPr>
          <p:cNvSpPr>
            <a:spLocks noGrp="1"/>
          </p:cNvSpPr>
          <p:nvPr>
            <p:ph idx="1"/>
          </p:nvPr>
        </p:nvSpPr>
        <p:spPr>
          <a:xfrm>
            <a:off x="838200" y="901148"/>
            <a:ext cx="10515599" cy="5804452"/>
          </a:xfrm>
        </p:spPr>
        <p:txBody>
          <a:bodyPr>
            <a:normAutofit/>
          </a:bodyPr>
          <a:lstStyle/>
          <a:p>
            <a:pPr marL="0" indent="0">
              <a:buNone/>
            </a:pPr>
            <a:endParaRPr lang="en-US" dirty="0"/>
          </a:p>
          <a:p>
            <a:pPr marL="0" indent="0">
              <a:buNone/>
            </a:pPr>
            <a:endParaRPr lang="en-IN" dirty="0"/>
          </a:p>
        </p:txBody>
      </p:sp>
      <p:graphicFrame>
        <p:nvGraphicFramePr>
          <p:cNvPr id="4" name="Table 3">
            <a:extLst>
              <a:ext uri="{FF2B5EF4-FFF2-40B4-BE49-F238E27FC236}">
                <a16:creationId xmlns:a16="http://schemas.microsoft.com/office/drawing/2014/main" id="{3047F608-B5CA-57AD-94A7-EB2B50022ECB}"/>
              </a:ext>
            </a:extLst>
          </p:cNvPr>
          <p:cNvGraphicFramePr>
            <a:graphicFrameLocks noGrp="1"/>
          </p:cNvGraphicFramePr>
          <p:nvPr>
            <p:extLst>
              <p:ext uri="{D42A27DB-BD31-4B8C-83A1-F6EECF244321}">
                <p14:modId xmlns:p14="http://schemas.microsoft.com/office/powerpoint/2010/main" val="3373176099"/>
              </p:ext>
            </p:extLst>
          </p:nvPr>
        </p:nvGraphicFramePr>
        <p:xfrm>
          <a:off x="1030479" y="901148"/>
          <a:ext cx="10631433" cy="5956849"/>
        </p:xfrm>
        <a:graphic>
          <a:graphicData uri="http://schemas.openxmlformats.org/drawingml/2006/table">
            <a:tbl>
              <a:tblPr/>
              <a:tblGrid>
                <a:gridCol w="3543811">
                  <a:extLst>
                    <a:ext uri="{9D8B030D-6E8A-4147-A177-3AD203B41FA5}">
                      <a16:colId xmlns:a16="http://schemas.microsoft.com/office/drawing/2014/main" val="1468555738"/>
                    </a:ext>
                  </a:extLst>
                </a:gridCol>
                <a:gridCol w="3543811">
                  <a:extLst>
                    <a:ext uri="{9D8B030D-6E8A-4147-A177-3AD203B41FA5}">
                      <a16:colId xmlns:a16="http://schemas.microsoft.com/office/drawing/2014/main" val="1597217095"/>
                    </a:ext>
                  </a:extLst>
                </a:gridCol>
                <a:gridCol w="3543811">
                  <a:extLst>
                    <a:ext uri="{9D8B030D-6E8A-4147-A177-3AD203B41FA5}">
                      <a16:colId xmlns:a16="http://schemas.microsoft.com/office/drawing/2014/main" val="554467449"/>
                    </a:ext>
                  </a:extLst>
                </a:gridCol>
              </a:tblGrid>
              <a:tr h="390613">
                <a:tc>
                  <a:txBody>
                    <a:bodyPr/>
                    <a:lstStyle/>
                    <a:p>
                      <a:r>
                        <a:rPr lang="en-IN" sz="1400" b="1"/>
                        <a:t>Category</a:t>
                      </a:r>
                      <a:endParaRPr lang="en-IN" sz="1400"/>
                    </a:p>
                  </a:txBody>
                  <a:tcPr marL="71333" marR="71333" marT="35667" marB="35667" anchor="ctr">
                    <a:lnL>
                      <a:noFill/>
                    </a:lnL>
                    <a:lnR>
                      <a:noFill/>
                    </a:lnR>
                    <a:lnT>
                      <a:noFill/>
                    </a:lnT>
                    <a:lnB>
                      <a:noFill/>
                    </a:lnB>
                  </a:tcPr>
                </a:tc>
                <a:tc>
                  <a:txBody>
                    <a:bodyPr/>
                    <a:lstStyle/>
                    <a:p>
                      <a:r>
                        <a:rPr lang="en-IN" sz="1400" b="1"/>
                        <a:t>Concept / STL</a:t>
                      </a:r>
                      <a:endParaRPr lang="en-IN" sz="1400"/>
                    </a:p>
                  </a:txBody>
                  <a:tcPr marL="71333" marR="71333" marT="35667" marB="35667" anchor="ctr">
                    <a:lnL>
                      <a:noFill/>
                    </a:lnL>
                    <a:lnR>
                      <a:noFill/>
                    </a:lnR>
                    <a:lnT>
                      <a:noFill/>
                    </a:lnT>
                    <a:lnB>
                      <a:noFill/>
                    </a:lnB>
                  </a:tcPr>
                </a:tc>
                <a:tc>
                  <a:txBody>
                    <a:bodyPr/>
                    <a:lstStyle/>
                    <a:p>
                      <a:r>
                        <a:rPr lang="en-IN" sz="1400" b="1"/>
                        <a:t>Use in Project</a:t>
                      </a:r>
                      <a:endParaRPr lang="en-IN" sz="1400"/>
                    </a:p>
                  </a:txBody>
                  <a:tcPr marL="71333" marR="71333" marT="35667" marB="35667" anchor="ctr">
                    <a:lnL>
                      <a:noFill/>
                    </a:lnL>
                    <a:lnR>
                      <a:noFill/>
                    </a:lnR>
                    <a:lnT>
                      <a:noFill/>
                    </a:lnT>
                    <a:lnB>
                      <a:noFill/>
                    </a:lnB>
                  </a:tcPr>
                </a:tc>
                <a:extLst>
                  <a:ext uri="{0D108BD9-81ED-4DB2-BD59-A6C34878D82A}">
                    <a16:rowId xmlns:a16="http://schemas.microsoft.com/office/drawing/2014/main" val="3081452729"/>
                  </a:ext>
                </a:extLst>
              </a:tr>
              <a:tr h="390613">
                <a:tc>
                  <a:txBody>
                    <a:bodyPr/>
                    <a:lstStyle/>
                    <a:p>
                      <a:r>
                        <a:rPr lang="en-IN" sz="1400"/>
                        <a:t>C++ Concept</a:t>
                      </a:r>
                    </a:p>
                  </a:txBody>
                  <a:tcPr marL="71333" marR="71333" marT="35667" marB="35667" anchor="ctr">
                    <a:lnL>
                      <a:noFill/>
                    </a:lnL>
                    <a:lnR>
                      <a:noFill/>
                    </a:lnR>
                    <a:lnT>
                      <a:noFill/>
                    </a:lnT>
                    <a:lnB>
                      <a:noFill/>
                    </a:lnB>
                  </a:tcPr>
                </a:tc>
                <a:tc>
                  <a:txBody>
                    <a:bodyPr/>
                    <a:lstStyle/>
                    <a:p>
                      <a:r>
                        <a:rPr lang="en-IN" sz="1400"/>
                        <a:t>Classes &amp; Objects</a:t>
                      </a:r>
                    </a:p>
                  </a:txBody>
                  <a:tcPr marL="71333" marR="71333" marT="35667" marB="35667" anchor="ctr">
                    <a:lnL>
                      <a:noFill/>
                    </a:lnL>
                    <a:lnR>
                      <a:noFill/>
                    </a:lnR>
                    <a:lnT>
                      <a:noFill/>
                    </a:lnT>
                    <a:lnB>
                      <a:noFill/>
                    </a:lnB>
                  </a:tcPr>
                </a:tc>
                <a:tc>
                  <a:txBody>
                    <a:bodyPr/>
                    <a:lstStyle/>
                    <a:p>
                      <a:r>
                        <a:rPr lang="en-US" sz="1400"/>
                        <a:t>Store ATM and account details</a:t>
                      </a:r>
                    </a:p>
                  </a:txBody>
                  <a:tcPr marL="71333" marR="71333" marT="35667" marB="35667" anchor="ctr">
                    <a:lnL>
                      <a:noFill/>
                    </a:lnL>
                    <a:lnR>
                      <a:noFill/>
                    </a:lnR>
                    <a:lnT>
                      <a:noFill/>
                    </a:lnT>
                    <a:lnB>
                      <a:noFill/>
                    </a:lnB>
                  </a:tcPr>
                </a:tc>
                <a:extLst>
                  <a:ext uri="{0D108BD9-81ED-4DB2-BD59-A6C34878D82A}">
                    <a16:rowId xmlns:a16="http://schemas.microsoft.com/office/drawing/2014/main" val="3345901240"/>
                  </a:ext>
                </a:extLst>
              </a:tr>
              <a:tr h="390613">
                <a:tc>
                  <a:txBody>
                    <a:bodyPr/>
                    <a:lstStyle/>
                    <a:p>
                      <a:r>
                        <a:rPr lang="en-IN" sz="1400"/>
                        <a:t>C++ Concept</a:t>
                      </a:r>
                    </a:p>
                  </a:txBody>
                  <a:tcPr marL="71333" marR="71333" marT="35667" marB="35667" anchor="ctr">
                    <a:lnL>
                      <a:noFill/>
                    </a:lnL>
                    <a:lnR>
                      <a:noFill/>
                    </a:lnR>
                    <a:lnT>
                      <a:noFill/>
                    </a:lnT>
                    <a:lnB>
                      <a:noFill/>
                    </a:lnB>
                  </a:tcPr>
                </a:tc>
                <a:tc>
                  <a:txBody>
                    <a:bodyPr/>
                    <a:lstStyle/>
                    <a:p>
                      <a:r>
                        <a:rPr lang="en-IN" sz="1400"/>
                        <a:t>Encapsulation</a:t>
                      </a:r>
                    </a:p>
                  </a:txBody>
                  <a:tcPr marL="71333" marR="71333" marT="35667" marB="35667" anchor="ctr">
                    <a:lnL>
                      <a:noFill/>
                    </a:lnL>
                    <a:lnR>
                      <a:noFill/>
                    </a:lnR>
                    <a:lnT>
                      <a:noFill/>
                    </a:lnT>
                    <a:lnB>
                      <a:noFill/>
                    </a:lnB>
                  </a:tcPr>
                </a:tc>
                <a:tc>
                  <a:txBody>
                    <a:bodyPr/>
                    <a:lstStyle/>
                    <a:p>
                      <a:r>
                        <a:rPr lang="en-US" sz="1400"/>
                        <a:t>Keep data and functions together</a:t>
                      </a:r>
                    </a:p>
                  </a:txBody>
                  <a:tcPr marL="71333" marR="71333" marT="35667" marB="35667" anchor="ctr">
                    <a:lnL>
                      <a:noFill/>
                    </a:lnL>
                    <a:lnR>
                      <a:noFill/>
                    </a:lnR>
                    <a:lnT>
                      <a:noFill/>
                    </a:lnT>
                    <a:lnB>
                      <a:noFill/>
                    </a:lnB>
                  </a:tcPr>
                </a:tc>
                <a:extLst>
                  <a:ext uri="{0D108BD9-81ED-4DB2-BD59-A6C34878D82A}">
                    <a16:rowId xmlns:a16="http://schemas.microsoft.com/office/drawing/2014/main" val="2038214748"/>
                  </a:ext>
                </a:extLst>
              </a:tr>
              <a:tr h="683573">
                <a:tc>
                  <a:txBody>
                    <a:bodyPr/>
                    <a:lstStyle/>
                    <a:p>
                      <a:r>
                        <a:rPr lang="en-IN" sz="1400"/>
                        <a:t>C++ Concept</a:t>
                      </a:r>
                    </a:p>
                  </a:txBody>
                  <a:tcPr marL="71333" marR="71333" marT="35667" marB="35667" anchor="ctr">
                    <a:lnL>
                      <a:noFill/>
                    </a:lnL>
                    <a:lnR>
                      <a:noFill/>
                    </a:lnR>
                    <a:lnT>
                      <a:noFill/>
                    </a:lnT>
                    <a:lnB>
                      <a:noFill/>
                    </a:lnB>
                  </a:tcPr>
                </a:tc>
                <a:tc>
                  <a:txBody>
                    <a:bodyPr/>
                    <a:lstStyle/>
                    <a:p>
                      <a:r>
                        <a:rPr lang="en-IN" sz="1400"/>
                        <a:t>Functions</a:t>
                      </a:r>
                    </a:p>
                  </a:txBody>
                  <a:tcPr marL="71333" marR="71333" marT="35667" marB="35667" anchor="ctr">
                    <a:lnL>
                      <a:noFill/>
                    </a:lnL>
                    <a:lnR>
                      <a:noFill/>
                    </a:lnR>
                    <a:lnT>
                      <a:noFill/>
                    </a:lnT>
                    <a:lnB>
                      <a:noFill/>
                    </a:lnB>
                  </a:tcPr>
                </a:tc>
                <a:tc>
                  <a:txBody>
                    <a:bodyPr/>
                    <a:lstStyle/>
                    <a:p>
                      <a:r>
                        <a:rPr lang="en-US" sz="1400"/>
                        <a:t>Perform deposit, withdrawal, balance check</a:t>
                      </a:r>
                    </a:p>
                  </a:txBody>
                  <a:tcPr marL="71333" marR="71333" marT="35667" marB="35667" anchor="ctr">
                    <a:lnL>
                      <a:noFill/>
                    </a:lnL>
                    <a:lnR>
                      <a:noFill/>
                    </a:lnR>
                    <a:lnT>
                      <a:noFill/>
                    </a:lnT>
                    <a:lnB>
                      <a:noFill/>
                    </a:lnB>
                  </a:tcPr>
                </a:tc>
                <a:extLst>
                  <a:ext uri="{0D108BD9-81ED-4DB2-BD59-A6C34878D82A}">
                    <a16:rowId xmlns:a16="http://schemas.microsoft.com/office/drawing/2014/main" val="1413351702"/>
                  </a:ext>
                </a:extLst>
              </a:tr>
              <a:tr h="683573">
                <a:tc>
                  <a:txBody>
                    <a:bodyPr/>
                    <a:lstStyle/>
                    <a:p>
                      <a:r>
                        <a:rPr lang="en-IN" sz="1400"/>
                        <a:t>C++ Concept</a:t>
                      </a:r>
                    </a:p>
                  </a:txBody>
                  <a:tcPr marL="71333" marR="71333" marT="35667" marB="35667" anchor="ctr">
                    <a:lnL>
                      <a:noFill/>
                    </a:lnL>
                    <a:lnR>
                      <a:noFill/>
                    </a:lnR>
                    <a:lnT>
                      <a:noFill/>
                    </a:lnT>
                    <a:lnB>
                      <a:noFill/>
                    </a:lnB>
                  </a:tcPr>
                </a:tc>
                <a:tc>
                  <a:txBody>
                    <a:bodyPr/>
                    <a:lstStyle/>
                    <a:p>
                      <a:r>
                        <a:rPr lang="en-IN" sz="1400"/>
                        <a:t>Conditional Statements</a:t>
                      </a:r>
                    </a:p>
                  </a:txBody>
                  <a:tcPr marL="71333" marR="71333" marT="35667" marB="35667" anchor="ctr">
                    <a:lnL>
                      <a:noFill/>
                    </a:lnL>
                    <a:lnR>
                      <a:noFill/>
                    </a:lnR>
                    <a:lnT>
                      <a:noFill/>
                    </a:lnT>
                    <a:lnB>
                      <a:noFill/>
                    </a:lnB>
                  </a:tcPr>
                </a:tc>
                <a:tc>
                  <a:txBody>
                    <a:bodyPr/>
                    <a:lstStyle/>
                    <a:p>
                      <a:r>
                        <a:rPr lang="en-US" sz="1400"/>
                        <a:t>Check PIN and transaction conditions</a:t>
                      </a:r>
                    </a:p>
                  </a:txBody>
                  <a:tcPr marL="71333" marR="71333" marT="35667" marB="35667" anchor="ctr">
                    <a:lnL>
                      <a:noFill/>
                    </a:lnL>
                    <a:lnR>
                      <a:noFill/>
                    </a:lnR>
                    <a:lnT>
                      <a:noFill/>
                    </a:lnT>
                    <a:lnB>
                      <a:noFill/>
                    </a:lnB>
                  </a:tcPr>
                </a:tc>
                <a:extLst>
                  <a:ext uri="{0D108BD9-81ED-4DB2-BD59-A6C34878D82A}">
                    <a16:rowId xmlns:a16="http://schemas.microsoft.com/office/drawing/2014/main" val="3682869534"/>
                  </a:ext>
                </a:extLst>
              </a:tr>
              <a:tr h="390613">
                <a:tc>
                  <a:txBody>
                    <a:bodyPr/>
                    <a:lstStyle/>
                    <a:p>
                      <a:r>
                        <a:rPr lang="en-IN" sz="1400"/>
                        <a:t>C++ Concept</a:t>
                      </a:r>
                    </a:p>
                  </a:txBody>
                  <a:tcPr marL="71333" marR="71333" marT="35667" marB="35667" anchor="ctr">
                    <a:lnL>
                      <a:noFill/>
                    </a:lnL>
                    <a:lnR>
                      <a:noFill/>
                    </a:lnR>
                    <a:lnT>
                      <a:noFill/>
                    </a:lnT>
                    <a:lnB>
                      <a:noFill/>
                    </a:lnB>
                  </a:tcPr>
                </a:tc>
                <a:tc>
                  <a:txBody>
                    <a:bodyPr/>
                    <a:lstStyle/>
                    <a:p>
                      <a:r>
                        <a:rPr lang="en-IN" sz="1400"/>
                        <a:t>Loops</a:t>
                      </a:r>
                    </a:p>
                  </a:txBody>
                  <a:tcPr marL="71333" marR="71333" marT="35667" marB="35667" anchor="ctr">
                    <a:lnL>
                      <a:noFill/>
                    </a:lnL>
                    <a:lnR>
                      <a:noFill/>
                    </a:lnR>
                    <a:lnT>
                      <a:noFill/>
                    </a:lnT>
                    <a:lnB>
                      <a:noFill/>
                    </a:lnB>
                  </a:tcPr>
                </a:tc>
                <a:tc>
                  <a:txBody>
                    <a:bodyPr/>
                    <a:lstStyle/>
                    <a:p>
                      <a:r>
                        <a:rPr lang="en-US" sz="1400"/>
                        <a:t>Display the ATM menu repeatedly</a:t>
                      </a:r>
                    </a:p>
                  </a:txBody>
                  <a:tcPr marL="71333" marR="71333" marT="35667" marB="35667" anchor="ctr">
                    <a:lnL>
                      <a:noFill/>
                    </a:lnL>
                    <a:lnR>
                      <a:noFill/>
                    </a:lnR>
                    <a:lnT>
                      <a:noFill/>
                    </a:lnT>
                    <a:lnB>
                      <a:noFill/>
                    </a:lnB>
                  </a:tcPr>
                </a:tc>
                <a:extLst>
                  <a:ext uri="{0D108BD9-81ED-4DB2-BD59-A6C34878D82A}">
                    <a16:rowId xmlns:a16="http://schemas.microsoft.com/office/drawing/2014/main" val="3671347054"/>
                  </a:ext>
                </a:extLst>
              </a:tr>
              <a:tr h="390613">
                <a:tc>
                  <a:txBody>
                    <a:bodyPr/>
                    <a:lstStyle/>
                    <a:p>
                      <a:r>
                        <a:rPr lang="en-IN" sz="1400"/>
                        <a:t>C++ Concept</a:t>
                      </a:r>
                    </a:p>
                  </a:txBody>
                  <a:tcPr marL="71333" marR="71333" marT="35667" marB="35667" anchor="ctr">
                    <a:lnL>
                      <a:noFill/>
                    </a:lnL>
                    <a:lnR>
                      <a:noFill/>
                    </a:lnR>
                    <a:lnT>
                      <a:noFill/>
                    </a:lnT>
                    <a:lnB>
                      <a:noFill/>
                    </a:lnB>
                  </a:tcPr>
                </a:tc>
                <a:tc>
                  <a:txBody>
                    <a:bodyPr/>
                    <a:lstStyle/>
                    <a:p>
                      <a:r>
                        <a:rPr lang="en-IN" sz="1400"/>
                        <a:t>Constructors</a:t>
                      </a:r>
                    </a:p>
                  </a:txBody>
                  <a:tcPr marL="71333" marR="71333" marT="35667" marB="35667" anchor="ctr">
                    <a:lnL>
                      <a:noFill/>
                    </a:lnL>
                    <a:lnR>
                      <a:noFill/>
                    </a:lnR>
                    <a:lnT>
                      <a:noFill/>
                    </a:lnT>
                    <a:lnB>
                      <a:noFill/>
                    </a:lnB>
                  </a:tcPr>
                </a:tc>
                <a:tc>
                  <a:txBody>
                    <a:bodyPr/>
                    <a:lstStyle/>
                    <a:p>
                      <a:r>
                        <a:rPr lang="en-IN" sz="1400"/>
                        <a:t>Initialize account details</a:t>
                      </a:r>
                    </a:p>
                  </a:txBody>
                  <a:tcPr marL="71333" marR="71333" marT="35667" marB="35667" anchor="ctr">
                    <a:lnL>
                      <a:noFill/>
                    </a:lnL>
                    <a:lnR>
                      <a:noFill/>
                    </a:lnR>
                    <a:lnT>
                      <a:noFill/>
                    </a:lnT>
                    <a:lnB>
                      <a:noFill/>
                    </a:lnB>
                  </a:tcPr>
                </a:tc>
                <a:extLst>
                  <a:ext uri="{0D108BD9-81ED-4DB2-BD59-A6C34878D82A}">
                    <a16:rowId xmlns:a16="http://schemas.microsoft.com/office/drawing/2014/main" val="3866063389"/>
                  </a:ext>
                </a:extLst>
              </a:tr>
              <a:tr h="683573">
                <a:tc>
                  <a:txBody>
                    <a:bodyPr/>
                    <a:lstStyle/>
                    <a:p>
                      <a:r>
                        <a:rPr lang="en-IN" sz="1400"/>
                        <a:t>C++ Concept</a:t>
                      </a:r>
                    </a:p>
                  </a:txBody>
                  <a:tcPr marL="71333" marR="71333" marT="35667" marB="35667" anchor="ctr">
                    <a:lnL>
                      <a:noFill/>
                    </a:lnL>
                    <a:lnR>
                      <a:noFill/>
                    </a:lnR>
                    <a:lnT>
                      <a:noFill/>
                    </a:lnT>
                    <a:lnB>
                      <a:noFill/>
                    </a:lnB>
                  </a:tcPr>
                </a:tc>
                <a:tc>
                  <a:txBody>
                    <a:bodyPr/>
                    <a:lstStyle/>
                    <a:p>
                      <a:r>
                        <a:rPr lang="en-IN" sz="1400"/>
                        <a:t>File Handling</a:t>
                      </a:r>
                    </a:p>
                  </a:txBody>
                  <a:tcPr marL="71333" marR="71333" marT="35667" marB="35667" anchor="ctr">
                    <a:lnL>
                      <a:noFill/>
                    </a:lnL>
                    <a:lnR>
                      <a:noFill/>
                    </a:lnR>
                    <a:lnT>
                      <a:noFill/>
                    </a:lnT>
                    <a:lnB>
                      <a:noFill/>
                    </a:lnB>
                  </a:tcPr>
                </a:tc>
                <a:tc>
                  <a:txBody>
                    <a:bodyPr/>
                    <a:lstStyle/>
                    <a:p>
                      <a:r>
                        <a:rPr lang="en-US" sz="1400"/>
                        <a:t>Store and retrieve transaction details</a:t>
                      </a:r>
                    </a:p>
                  </a:txBody>
                  <a:tcPr marL="71333" marR="71333" marT="35667" marB="35667" anchor="ctr">
                    <a:lnL>
                      <a:noFill/>
                    </a:lnL>
                    <a:lnR>
                      <a:noFill/>
                    </a:lnR>
                    <a:lnT>
                      <a:noFill/>
                    </a:lnT>
                    <a:lnB>
                      <a:noFill/>
                    </a:lnB>
                  </a:tcPr>
                </a:tc>
                <a:extLst>
                  <a:ext uri="{0D108BD9-81ED-4DB2-BD59-A6C34878D82A}">
                    <a16:rowId xmlns:a16="http://schemas.microsoft.com/office/drawing/2014/main" val="968471928"/>
                  </a:ext>
                </a:extLst>
              </a:tr>
              <a:tr h="390613">
                <a:tc>
                  <a:txBody>
                    <a:bodyPr/>
                    <a:lstStyle/>
                    <a:p>
                      <a:r>
                        <a:rPr lang="en-IN" sz="1400"/>
                        <a:t>STL</a:t>
                      </a:r>
                    </a:p>
                  </a:txBody>
                  <a:tcPr marL="71333" marR="71333" marT="35667" marB="35667" anchor="ctr">
                    <a:lnL>
                      <a:noFill/>
                    </a:lnL>
                    <a:lnR>
                      <a:noFill/>
                    </a:lnR>
                    <a:lnT>
                      <a:noFill/>
                    </a:lnT>
                    <a:lnB>
                      <a:noFill/>
                    </a:lnB>
                  </a:tcPr>
                </a:tc>
                <a:tc>
                  <a:txBody>
                    <a:bodyPr/>
                    <a:lstStyle/>
                    <a:p>
                      <a:r>
                        <a:rPr lang="en-IN" sz="1400"/>
                        <a:t>string</a:t>
                      </a:r>
                    </a:p>
                  </a:txBody>
                  <a:tcPr marL="71333" marR="71333" marT="35667" marB="35667" anchor="ctr">
                    <a:lnL>
                      <a:noFill/>
                    </a:lnL>
                    <a:lnR>
                      <a:noFill/>
                    </a:lnR>
                    <a:lnT>
                      <a:noFill/>
                    </a:lnT>
                    <a:lnB>
                      <a:noFill/>
                    </a:lnB>
                  </a:tcPr>
                </a:tc>
                <a:tc>
                  <a:txBody>
                    <a:bodyPr/>
                    <a:lstStyle/>
                    <a:p>
                      <a:r>
                        <a:rPr lang="en-IN" sz="1400"/>
                        <a:t>Store names and text</a:t>
                      </a:r>
                    </a:p>
                  </a:txBody>
                  <a:tcPr marL="71333" marR="71333" marT="35667" marB="35667" anchor="ctr">
                    <a:lnL>
                      <a:noFill/>
                    </a:lnL>
                    <a:lnR>
                      <a:noFill/>
                    </a:lnR>
                    <a:lnT>
                      <a:noFill/>
                    </a:lnT>
                    <a:lnB>
                      <a:noFill/>
                    </a:lnB>
                  </a:tcPr>
                </a:tc>
                <a:extLst>
                  <a:ext uri="{0D108BD9-81ED-4DB2-BD59-A6C34878D82A}">
                    <a16:rowId xmlns:a16="http://schemas.microsoft.com/office/drawing/2014/main" val="1256300764"/>
                  </a:ext>
                </a:extLst>
              </a:tr>
              <a:tr h="390613">
                <a:tc>
                  <a:txBody>
                    <a:bodyPr/>
                    <a:lstStyle/>
                    <a:p>
                      <a:r>
                        <a:rPr lang="en-IN" sz="1400"/>
                        <a:t>STL</a:t>
                      </a:r>
                    </a:p>
                  </a:txBody>
                  <a:tcPr marL="71333" marR="71333" marT="35667" marB="35667" anchor="ctr">
                    <a:lnL>
                      <a:noFill/>
                    </a:lnL>
                    <a:lnR>
                      <a:noFill/>
                    </a:lnR>
                    <a:lnT>
                      <a:noFill/>
                    </a:lnT>
                    <a:lnB>
                      <a:noFill/>
                    </a:lnB>
                  </a:tcPr>
                </a:tc>
                <a:tc>
                  <a:txBody>
                    <a:bodyPr/>
                    <a:lstStyle/>
                    <a:p>
                      <a:r>
                        <a:rPr lang="en-IN" sz="1400"/>
                        <a:t>vector</a:t>
                      </a:r>
                    </a:p>
                  </a:txBody>
                  <a:tcPr marL="71333" marR="71333" marT="35667" marB="35667" anchor="ctr">
                    <a:lnL>
                      <a:noFill/>
                    </a:lnL>
                    <a:lnR>
                      <a:noFill/>
                    </a:lnR>
                    <a:lnT>
                      <a:noFill/>
                    </a:lnT>
                    <a:lnB>
                      <a:noFill/>
                    </a:lnB>
                  </a:tcPr>
                </a:tc>
                <a:tc>
                  <a:txBody>
                    <a:bodyPr/>
                    <a:lstStyle/>
                    <a:p>
                      <a:r>
                        <a:rPr lang="en-IN" sz="1400"/>
                        <a:t>Store transaction records</a:t>
                      </a:r>
                    </a:p>
                  </a:txBody>
                  <a:tcPr marL="71333" marR="71333" marT="35667" marB="35667" anchor="ctr">
                    <a:lnL>
                      <a:noFill/>
                    </a:lnL>
                    <a:lnR>
                      <a:noFill/>
                    </a:lnR>
                    <a:lnT>
                      <a:noFill/>
                    </a:lnT>
                    <a:lnB>
                      <a:noFill/>
                    </a:lnB>
                  </a:tcPr>
                </a:tc>
                <a:extLst>
                  <a:ext uri="{0D108BD9-81ED-4DB2-BD59-A6C34878D82A}">
                    <a16:rowId xmlns:a16="http://schemas.microsoft.com/office/drawing/2014/main" val="3470725850"/>
                  </a:ext>
                </a:extLst>
              </a:tr>
              <a:tr h="390613">
                <a:tc>
                  <a:txBody>
                    <a:bodyPr/>
                    <a:lstStyle/>
                    <a:p>
                      <a:r>
                        <a:rPr lang="en-IN" sz="1400"/>
                        <a:t>STL</a:t>
                      </a:r>
                    </a:p>
                  </a:txBody>
                  <a:tcPr marL="71333" marR="71333" marT="35667" marB="35667" anchor="ctr">
                    <a:lnL>
                      <a:noFill/>
                    </a:lnL>
                    <a:lnR>
                      <a:noFill/>
                    </a:lnR>
                    <a:lnT>
                      <a:noFill/>
                    </a:lnT>
                    <a:lnB>
                      <a:noFill/>
                    </a:lnB>
                  </a:tcPr>
                </a:tc>
                <a:tc>
                  <a:txBody>
                    <a:bodyPr/>
                    <a:lstStyle/>
                    <a:p>
                      <a:r>
                        <a:rPr lang="en-IN" sz="1400"/>
                        <a:t>map</a:t>
                      </a:r>
                    </a:p>
                  </a:txBody>
                  <a:tcPr marL="71333" marR="71333" marT="35667" marB="35667" anchor="ctr">
                    <a:lnL>
                      <a:noFill/>
                    </a:lnL>
                    <a:lnR>
                      <a:noFill/>
                    </a:lnR>
                    <a:lnT>
                      <a:noFill/>
                    </a:lnT>
                    <a:lnB>
                      <a:noFill/>
                    </a:lnB>
                  </a:tcPr>
                </a:tc>
                <a:tc>
                  <a:txBody>
                    <a:bodyPr/>
                    <a:lstStyle/>
                    <a:p>
                      <a:r>
                        <a:rPr lang="en-IN" sz="1400"/>
                        <a:t>Store account details</a:t>
                      </a:r>
                    </a:p>
                  </a:txBody>
                  <a:tcPr marL="71333" marR="71333" marT="35667" marB="35667" anchor="ctr">
                    <a:lnL>
                      <a:noFill/>
                    </a:lnL>
                    <a:lnR>
                      <a:noFill/>
                    </a:lnR>
                    <a:lnT>
                      <a:noFill/>
                    </a:lnT>
                    <a:lnB>
                      <a:noFill/>
                    </a:lnB>
                  </a:tcPr>
                </a:tc>
                <a:extLst>
                  <a:ext uri="{0D108BD9-81ED-4DB2-BD59-A6C34878D82A}">
                    <a16:rowId xmlns:a16="http://schemas.microsoft.com/office/drawing/2014/main" val="3830396595"/>
                  </a:ext>
                </a:extLst>
              </a:tr>
              <a:tr h="390613">
                <a:tc>
                  <a:txBody>
                    <a:bodyPr/>
                    <a:lstStyle/>
                    <a:p>
                      <a:r>
                        <a:rPr lang="en-IN" sz="1400"/>
                        <a:t>STL</a:t>
                      </a:r>
                    </a:p>
                  </a:txBody>
                  <a:tcPr marL="71333" marR="71333" marT="35667" marB="35667" anchor="ctr">
                    <a:lnL>
                      <a:noFill/>
                    </a:lnL>
                    <a:lnR>
                      <a:noFill/>
                    </a:lnR>
                    <a:lnT>
                      <a:noFill/>
                    </a:lnT>
                    <a:lnB>
                      <a:noFill/>
                    </a:lnB>
                  </a:tcPr>
                </a:tc>
                <a:tc>
                  <a:txBody>
                    <a:bodyPr/>
                    <a:lstStyle/>
                    <a:p>
                      <a:r>
                        <a:rPr lang="en-IN" sz="1400"/>
                        <a:t>iostream</a:t>
                      </a:r>
                    </a:p>
                  </a:txBody>
                  <a:tcPr marL="71333" marR="71333" marT="35667" marB="35667" anchor="ctr">
                    <a:lnL>
                      <a:noFill/>
                    </a:lnL>
                    <a:lnR>
                      <a:noFill/>
                    </a:lnR>
                    <a:lnT>
                      <a:noFill/>
                    </a:lnT>
                    <a:lnB>
                      <a:noFill/>
                    </a:lnB>
                  </a:tcPr>
                </a:tc>
                <a:tc>
                  <a:txBody>
                    <a:bodyPr/>
                    <a:lstStyle/>
                    <a:p>
                      <a:r>
                        <a:rPr lang="en-IN" sz="1400"/>
                        <a:t>Input and output</a:t>
                      </a:r>
                    </a:p>
                  </a:txBody>
                  <a:tcPr marL="71333" marR="71333" marT="35667" marB="35667" anchor="ctr">
                    <a:lnL>
                      <a:noFill/>
                    </a:lnL>
                    <a:lnR>
                      <a:noFill/>
                    </a:lnR>
                    <a:lnT>
                      <a:noFill/>
                    </a:lnT>
                    <a:lnB>
                      <a:noFill/>
                    </a:lnB>
                  </a:tcPr>
                </a:tc>
                <a:extLst>
                  <a:ext uri="{0D108BD9-81ED-4DB2-BD59-A6C34878D82A}">
                    <a16:rowId xmlns:a16="http://schemas.microsoft.com/office/drawing/2014/main" val="2478284862"/>
                  </a:ext>
                </a:extLst>
              </a:tr>
              <a:tr h="390613">
                <a:tc>
                  <a:txBody>
                    <a:bodyPr/>
                    <a:lstStyle/>
                    <a:p>
                      <a:r>
                        <a:rPr lang="en-IN" sz="1400"/>
                        <a:t>STL</a:t>
                      </a:r>
                    </a:p>
                  </a:txBody>
                  <a:tcPr marL="71333" marR="71333" marT="35667" marB="35667" anchor="ctr">
                    <a:lnL>
                      <a:noFill/>
                    </a:lnL>
                    <a:lnR>
                      <a:noFill/>
                    </a:lnR>
                    <a:lnT>
                      <a:noFill/>
                    </a:lnT>
                    <a:lnB>
                      <a:noFill/>
                    </a:lnB>
                  </a:tcPr>
                </a:tc>
                <a:tc>
                  <a:txBody>
                    <a:bodyPr/>
                    <a:lstStyle/>
                    <a:p>
                      <a:r>
                        <a:rPr lang="en-IN" sz="1400"/>
                        <a:t>iomanip</a:t>
                      </a:r>
                    </a:p>
                  </a:txBody>
                  <a:tcPr marL="71333" marR="71333" marT="35667" marB="35667" anchor="ctr">
                    <a:lnL>
                      <a:noFill/>
                    </a:lnL>
                    <a:lnR>
                      <a:noFill/>
                    </a:lnR>
                    <a:lnT>
                      <a:noFill/>
                    </a:lnT>
                    <a:lnB>
                      <a:noFill/>
                    </a:lnB>
                  </a:tcPr>
                </a:tc>
                <a:tc>
                  <a:txBody>
                    <a:bodyPr/>
                    <a:lstStyle/>
                    <a:p>
                      <a:r>
                        <a:rPr lang="en-IN" sz="1400" dirty="0"/>
                        <a:t>Format output and balance</a:t>
                      </a:r>
                    </a:p>
                  </a:txBody>
                  <a:tcPr marL="71333" marR="71333" marT="35667" marB="35667" anchor="ctr">
                    <a:lnL>
                      <a:noFill/>
                    </a:lnL>
                    <a:lnR>
                      <a:noFill/>
                    </a:lnR>
                    <a:lnT>
                      <a:noFill/>
                    </a:lnT>
                    <a:lnB>
                      <a:noFill/>
                    </a:lnB>
                  </a:tcPr>
                </a:tc>
                <a:extLst>
                  <a:ext uri="{0D108BD9-81ED-4DB2-BD59-A6C34878D82A}">
                    <a16:rowId xmlns:a16="http://schemas.microsoft.com/office/drawing/2014/main" val="2912304294"/>
                  </a:ext>
                </a:extLst>
              </a:tr>
            </a:tbl>
          </a:graphicData>
        </a:graphic>
      </p:graphicFrame>
      <p:pic>
        <p:nvPicPr>
          <p:cNvPr id="5" name="Picture 4">
            <a:extLst>
              <a:ext uri="{FF2B5EF4-FFF2-40B4-BE49-F238E27FC236}">
                <a16:creationId xmlns:a16="http://schemas.microsoft.com/office/drawing/2014/main" id="{4EBFFE3D-EE54-FA33-3359-2F4D199986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93" y="-10509"/>
            <a:ext cx="1786759" cy="681036"/>
          </a:xfrm>
          <a:prstGeom prst="rect">
            <a:avLst/>
          </a:prstGeom>
        </p:spPr>
      </p:pic>
    </p:spTree>
    <p:extLst>
      <p:ext uri="{BB962C8B-B14F-4D97-AF65-F5344CB8AC3E}">
        <p14:creationId xmlns:p14="http://schemas.microsoft.com/office/powerpoint/2010/main" val="3280383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6BD6E-4295-B3B6-BA79-C3D6137E8F5E}"/>
              </a:ext>
            </a:extLst>
          </p:cNvPr>
          <p:cNvSpPr>
            <a:spLocks noGrp="1"/>
          </p:cNvSpPr>
          <p:nvPr>
            <p:ph type="title"/>
          </p:nvPr>
        </p:nvSpPr>
        <p:spPr>
          <a:xfrm>
            <a:off x="838200" y="200611"/>
            <a:ext cx="10515600" cy="689113"/>
          </a:xfrm>
        </p:spPr>
        <p:txBody>
          <a:bodyPr>
            <a:normAutofit fontScale="90000"/>
          </a:bodyPr>
          <a:lstStyle/>
          <a:p>
            <a:pPr algn="ctr"/>
            <a:r>
              <a:rPr lang="en-IN" dirty="0"/>
              <a:t>Order Structure and STL Vector</a:t>
            </a:r>
          </a:p>
        </p:txBody>
      </p:sp>
      <p:sp>
        <p:nvSpPr>
          <p:cNvPr id="4" name="Rounded Rectangle 18">
            <a:extLst>
              <a:ext uri="{FF2B5EF4-FFF2-40B4-BE49-F238E27FC236}">
                <a16:creationId xmlns:a16="http://schemas.microsoft.com/office/drawing/2014/main" id="{9FBEFA09-83D1-4E60-2C40-C6AEF1F027B9}"/>
              </a:ext>
            </a:extLst>
          </p:cNvPr>
          <p:cNvSpPr>
            <a:spLocks noGrp="1"/>
          </p:cNvSpPr>
          <p:nvPr>
            <p:ph idx="1"/>
          </p:nvPr>
        </p:nvSpPr>
        <p:spPr>
          <a:xfrm>
            <a:off x="357809" y="1099931"/>
            <a:ext cx="5738191" cy="4375960"/>
          </a:xfrm>
          <a:prstGeom prst="roundRect">
            <a:avLst/>
          </a:prstGeom>
          <a:solidFill>
            <a:srgbClr val="1C2026"/>
          </a:solidFill>
          <a:ln>
            <a:solidFill>
              <a:srgbClr val="3C4148"/>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dirty="0"/>
              <a:t>struct Order {</a:t>
            </a:r>
          </a:p>
          <a:p>
            <a:r>
              <a:rPr lang="en-US" dirty="0"/>
              <a:t>    string type;</a:t>
            </a:r>
          </a:p>
          <a:p>
            <a:r>
              <a:rPr lang="en-US" dirty="0"/>
              <a:t>    double amount;</a:t>
            </a:r>
          </a:p>
          <a:p>
            <a:r>
              <a:rPr lang="en-US" dirty="0"/>
              <a:t>    string date;</a:t>
            </a:r>
          </a:p>
          <a:p>
            <a:r>
              <a:rPr lang="en-US" dirty="0"/>
              <a:t>};</a:t>
            </a:r>
          </a:p>
          <a:p>
            <a:endParaRPr lang="en-US" dirty="0"/>
          </a:p>
          <a:p>
            <a:r>
              <a:rPr lang="en-US" dirty="0"/>
              <a:t>vector&lt;Order&gt; history;</a:t>
            </a:r>
            <a:endParaRPr lang="en-IN" dirty="0"/>
          </a:p>
        </p:txBody>
      </p:sp>
      <p:sp>
        <p:nvSpPr>
          <p:cNvPr id="6" name="Rectangle 2">
            <a:extLst>
              <a:ext uri="{FF2B5EF4-FFF2-40B4-BE49-F238E27FC236}">
                <a16:creationId xmlns:a16="http://schemas.microsoft.com/office/drawing/2014/main" id="{5418E27E-45FF-6FD9-4564-73AFDD852A92}"/>
              </a:ext>
            </a:extLst>
          </p:cNvPr>
          <p:cNvSpPr>
            <a:spLocks noChangeArrowheads="1"/>
          </p:cNvSpPr>
          <p:nvPr/>
        </p:nvSpPr>
        <p:spPr bwMode="auto">
          <a:xfrm rot="10800000" flipV="1">
            <a:off x="6516414" y="1252488"/>
            <a:ext cx="507774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Order stores the details of one ATM order.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vector&lt;Order&gt; stores many orders.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Push _ back() adds a new order.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Loop through the vector to show the order summary.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clear() removes all orders. </a:t>
            </a:r>
          </a:p>
        </p:txBody>
      </p:sp>
      <p:pic>
        <p:nvPicPr>
          <p:cNvPr id="7" name="Picture 6">
            <a:extLst>
              <a:ext uri="{FF2B5EF4-FFF2-40B4-BE49-F238E27FC236}">
                <a16:creationId xmlns:a16="http://schemas.microsoft.com/office/drawing/2014/main" id="{995E3DE9-B570-2D8C-86DC-7CE42A015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655" y="116528"/>
            <a:ext cx="1576552" cy="566644"/>
          </a:xfrm>
          <a:prstGeom prst="rect">
            <a:avLst/>
          </a:prstGeom>
        </p:spPr>
      </p:pic>
    </p:spTree>
    <p:extLst>
      <p:ext uri="{BB962C8B-B14F-4D97-AF65-F5344CB8AC3E}">
        <p14:creationId xmlns:p14="http://schemas.microsoft.com/office/powerpoint/2010/main" val="631974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60C38-8097-A8C3-EF02-ECD55E676EC5}"/>
              </a:ext>
            </a:extLst>
          </p:cNvPr>
          <p:cNvSpPr>
            <a:spLocks noGrp="1"/>
          </p:cNvSpPr>
          <p:nvPr>
            <p:ph type="title"/>
          </p:nvPr>
        </p:nvSpPr>
        <p:spPr>
          <a:xfrm>
            <a:off x="1261240" y="585954"/>
            <a:ext cx="10092559" cy="831684"/>
          </a:xfrm>
        </p:spPr>
        <p:txBody>
          <a:bodyPr>
            <a:normAutofit/>
          </a:bodyPr>
          <a:lstStyle/>
          <a:p>
            <a:pPr lvl="0" eaLnBrk="0" fontAlgn="base" hangingPunct="0">
              <a:lnSpc>
                <a:spcPct val="100000"/>
              </a:lnSpc>
              <a:spcAft>
                <a:spcPct val="0"/>
              </a:spcAft>
              <a:buFontTx/>
              <a:buChar char="•"/>
            </a:pPr>
            <a:r>
              <a:rPr lang="en-IN" dirty="0"/>
              <a:t>Core  Function: Calculate Totals()</a:t>
            </a:r>
          </a:p>
        </p:txBody>
      </p:sp>
      <p:sp>
        <p:nvSpPr>
          <p:cNvPr id="4" name="Rounded Rectangle 18">
            <a:extLst>
              <a:ext uri="{FF2B5EF4-FFF2-40B4-BE49-F238E27FC236}">
                <a16:creationId xmlns:a16="http://schemas.microsoft.com/office/drawing/2014/main" id="{0B7F9A55-8542-B2E2-059F-9BBA81D93844}"/>
              </a:ext>
            </a:extLst>
          </p:cNvPr>
          <p:cNvSpPr>
            <a:spLocks noGrp="1"/>
          </p:cNvSpPr>
          <p:nvPr>
            <p:ph idx="1"/>
          </p:nvPr>
        </p:nvSpPr>
        <p:spPr>
          <a:xfrm>
            <a:off x="371061" y="1417638"/>
            <a:ext cx="6612835" cy="5307840"/>
          </a:xfrm>
          <a:prstGeom prst="roundRect">
            <a:avLst/>
          </a:prstGeom>
          <a:solidFill>
            <a:srgbClr val="1C2026"/>
          </a:solidFill>
          <a:ln>
            <a:solidFill>
              <a:srgbClr val="3C4148"/>
            </a:solidFill>
          </a:ln>
          <a:effectLst/>
        </p:spPr>
        <p:style>
          <a:lnRef idx="1">
            <a:schemeClr val="accent1"/>
          </a:lnRef>
          <a:fillRef idx="3">
            <a:schemeClr val="accent1"/>
          </a:fillRef>
          <a:effectRef idx="2">
            <a:schemeClr val="accent1"/>
          </a:effectRef>
          <a:fontRef idx="minor">
            <a:schemeClr val="lt1"/>
          </a:fontRef>
        </p:style>
        <p:txBody>
          <a:bodyPr rtlCol="0" anchor="ctr">
            <a:normAutofit fontScale="55000" lnSpcReduction="20000"/>
          </a:bodyPr>
          <a:lstStyle/>
          <a:p>
            <a:r>
              <a:rPr lang="en-IN"/>
              <a:t>void calculateTotals() {</a:t>
            </a:r>
          </a:p>
          <a:p>
            <a:r>
              <a:rPr lang="en-IN"/>
              <a:t>    double add items = 0, remove items = 0;</a:t>
            </a:r>
          </a:p>
          <a:p>
            <a:endParaRPr lang="en-IN"/>
          </a:p>
          <a:p>
            <a:r>
              <a:rPr lang="en-IN"/>
              <a:t>    for (int i = 0; i &lt; history.size(); i++) {</a:t>
            </a:r>
          </a:p>
          <a:p>
            <a:r>
              <a:rPr lang="en-IN"/>
              <a:t>        if (history[i].type == "Add Item")</a:t>
            </a:r>
          </a:p>
          <a:p>
            <a:r>
              <a:rPr lang="en-IN"/>
              <a:t>            add items += history[i].amount;</a:t>
            </a:r>
          </a:p>
          <a:p>
            <a:r>
              <a:rPr lang="en-IN"/>
              <a:t>        else</a:t>
            </a:r>
          </a:p>
          <a:p>
            <a:r>
              <a:rPr lang="en-IN"/>
              <a:t>            remove items += history[i].amount;</a:t>
            </a:r>
          </a:p>
          <a:p>
            <a:r>
              <a:rPr lang="en-IN"/>
              <a:t>    }</a:t>
            </a:r>
          </a:p>
          <a:p>
            <a:endParaRPr lang="en-IN"/>
          </a:p>
          <a:p>
            <a:r>
              <a:rPr lang="en-IN"/>
              <a:t>    cout &lt;&lt; "Total Add Items    : " &lt;&lt; add items &lt;&lt; endl;</a:t>
            </a:r>
          </a:p>
          <a:p>
            <a:r>
              <a:rPr lang="en-IN"/>
              <a:t>    cout &lt;&lt; "Total Remove Items : " &lt;&lt; remove items &lt;&lt; endl;</a:t>
            </a:r>
          </a:p>
          <a:p>
            <a:r>
              <a:rPr lang="en-IN"/>
              <a:t>    cout &lt;&lt; "Balance           : " &lt;&lt; add items - remove items &lt;&lt; endl;</a:t>
            </a:r>
          </a:p>
          <a:p>
            <a:r>
              <a:rPr lang="en-IN"/>
              <a:t>}</a:t>
            </a:r>
          </a:p>
        </p:txBody>
      </p:sp>
      <p:sp>
        <p:nvSpPr>
          <p:cNvPr id="7" name="TextBox 6">
            <a:extLst>
              <a:ext uri="{FF2B5EF4-FFF2-40B4-BE49-F238E27FC236}">
                <a16:creationId xmlns:a16="http://schemas.microsoft.com/office/drawing/2014/main" id="{EB58C7B9-57BB-E97A-B288-EEACEF1F23AD}"/>
              </a:ext>
            </a:extLst>
          </p:cNvPr>
          <p:cNvSpPr txBox="1"/>
          <p:nvPr/>
        </p:nvSpPr>
        <p:spPr>
          <a:xfrm>
            <a:off x="7367752" y="1870841"/>
            <a:ext cx="4361793" cy="4401205"/>
          </a:xfrm>
          <a:prstGeom prst="rect">
            <a:avLst/>
          </a:prstGeom>
          <a:noFill/>
        </p:spPr>
        <p:txBody>
          <a:bodyPr wrap="square">
            <a:spAutoFit/>
          </a:bodyPr>
          <a:lstStyle/>
          <a:p>
            <a:pPr lvl="1"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.If the type is Add Item, the amount is added to total add items.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If the type is Remove Item, the amount is added to total remove items.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Balance = Total Add Items − Total Remove Items.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results are displayed on the screen. </a:t>
            </a:r>
          </a:p>
        </p:txBody>
      </p:sp>
      <p:pic>
        <p:nvPicPr>
          <p:cNvPr id="9" name="Picture 8">
            <a:extLst>
              <a:ext uri="{FF2B5EF4-FFF2-40B4-BE49-F238E27FC236}">
                <a16:creationId xmlns:a16="http://schemas.microsoft.com/office/drawing/2014/main" id="{BED3A2EA-D7C4-B239-BB8F-938A6737D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31" y="-10509"/>
            <a:ext cx="2165131" cy="681036"/>
          </a:xfrm>
          <a:prstGeom prst="rect">
            <a:avLst/>
          </a:prstGeom>
        </p:spPr>
      </p:pic>
    </p:spTree>
    <p:extLst>
      <p:ext uri="{BB962C8B-B14F-4D97-AF65-F5344CB8AC3E}">
        <p14:creationId xmlns:p14="http://schemas.microsoft.com/office/powerpoint/2010/main" val="3576120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9D1B8-63D1-B27F-0EEA-26E7118FCF9F}"/>
              </a:ext>
            </a:extLst>
          </p:cNvPr>
          <p:cNvSpPr>
            <a:spLocks noGrp="1"/>
          </p:cNvSpPr>
          <p:nvPr>
            <p:ph type="title"/>
          </p:nvPr>
        </p:nvSpPr>
        <p:spPr>
          <a:xfrm>
            <a:off x="838200" y="1"/>
            <a:ext cx="10515600" cy="809296"/>
          </a:xfrm>
        </p:spPr>
        <p:txBody>
          <a:bodyPr>
            <a:normAutofit/>
          </a:bodyPr>
          <a:lstStyle/>
          <a:p>
            <a:pPr algn="ctr"/>
            <a:r>
              <a:rPr lang="en-IN" sz="3600" dirty="0"/>
              <a:t>File Handling : CSV Storage</a:t>
            </a:r>
          </a:p>
        </p:txBody>
      </p:sp>
      <p:sp>
        <p:nvSpPr>
          <p:cNvPr id="5" name="Rounded Rectangle 24">
            <a:extLst>
              <a:ext uri="{FF2B5EF4-FFF2-40B4-BE49-F238E27FC236}">
                <a16:creationId xmlns:a16="http://schemas.microsoft.com/office/drawing/2014/main" id="{71EC6112-B123-CD40-9283-4A76C6ACEA44}"/>
              </a:ext>
            </a:extLst>
          </p:cNvPr>
          <p:cNvSpPr/>
          <p:nvPr/>
        </p:nvSpPr>
        <p:spPr>
          <a:xfrm>
            <a:off x="401321" y="1288026"/>
            <a:ext cx="6392769" cy="5216914"/>
          </a:xfrm>
          <a:prstGeom prst="roundRect">
            <a:avLst/>
          </a:prstGeom>
          <a:solidFill>
            <a:srgbClr val="1C2026"/>
          </a:solidFill>
          <a:ln>
            <a:solidFill>
              <a:srgbClr val="3C41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#include &lt;</a:t>
            </a:r>
            <a:r>
              <a:rPr lang="en-IN" dirty="0" err="1"/>
              <a:t>fstr</a:t>
            </a:r>
            <a:endParaRPr lang="en-IN" dirty="0"/>
          </a:p>
          <a:p>
            <a:pPr algn="ctr"/>
            <a:endParaRPr lang="en-IN" dirty="0"/>
          </a:p>
          <a:p>
            <a:pPr algn="ctr"/>
            <a:r>
              <a:rPr lang="en-IN" dirty="0"/>
              <a:t>#include&lt;fstream&gt;</a:t>
            </a:r>
          </a:p>
          <a:p>
            <a:pPr algn="ctr"/>
            <a:r>
              <a:rPr lang="en-IN" dirty="0"/>
              <a:t>// Save one order to the file</a:t>
            </a:r>
          </a:p>
          <a:p>
            <a:pPr algn="ctr"/>
            <a:r>
              <a:rPr lang="en-IN" dirty="0"/>
              <a:t>void </a:t>
            </a:r>
            <a:r>
              <a:rPr lang="en-IN" dirty="0" err="1"/>
              <a:t>saveOrder</a:t>
            </a:r>
            <a:r>
              <a:rPr lang="en-IN" dirty="0"/>
              <a:t>(Order t) {</a:t>
            </a:r>
          </a:p>
          <a:p>
            <a:pPr algn="ctr"/>
            <a:r>
              <a:rPr lang="en-IN" dirty="0"/>
              <a:t>    </a:t>
            </a:r>
            <a:r>
              <a:rPr lang="en-IN" dirty="0" err="1"/>
              <a:t>ofstream</a:t>
            </a:r>
            <a:r>
              <a:rPr lang="en-IN" dirty="0"/>
              <a:t> file("orders.csv", </a:t>
            </a:r>
            <a:r>
              <a:rPr lang="en-IN" dirty="0" err="1"/>
              <a:t>ios</a:t>
            </a:r>
            <a:r>
              <a:rPr lang="en-IN" dirty="0"/>
              <a:t>::app);</a:t>
            </a:r>
          </a:p>
          <a:p>
            <a:pPr algn="ctr"/>
            <a:r>
              <a:rPr lang="en-IN" dirty="0"/>
              <a:t>    file &lt;&lt; </a:t>
            </a:r>
            <a:r>
              <a:rPr lang="en-IN" dirty="0" err="1"/>
              <a:t>t.type</a:t>
            </a:r>
            <a:r>
              <a:rPr lang="en-IN" dirty="0"/>
              <a:t> &lt;&lt; "," &lt;&lt; </a:t>
            </a:r>
            <a:r>
              <a:rPr lang="en-IN" dirty="0" err="1"/>
              <a:t>t.amount</a:t>
            </a:r>
            <a:r>
              <a:rPr lang="en-IN" dirty="0"/>
              <a:t> &lt;&lt; "," &lt;&lt; </a:t>
            </a:r>
            <a:r>
              <a:rPr lang="en-IN" dirty="0" err="1"/>
              <a:t>t.date</a:t>
            </a:r>
            <a:r>
              <a:rPr lang="en-IN" dirty="0"/>
              <a:t> &lt;&lt; </a:t>
            </a:r>
            <a:r>
              <a:rPr lang="en-IN" dirty="0" err="1"/>
              <a:t>endl</a:t>
            </a:r>
            <a:r>
              <a:rPr lang="en-IN" dirty="0"/>
              <a:t>;</a:t>
            </a:r>
          </a:p>
          <a:p>
            <a:pPr algn="ctr"/>
            <a:r>
              <a:rPr lang="en-IN" dirty="0"/>
              <a:t>}</a:t>
            </a:r>
          </a:p>
          <a:p>
            <a:pPr algn="ctr"/>
            <a:endParaRPr lang="en-IN" dirty="0"/>
          </a:p>
          <a:p>
            <a:pPr algn="ctr"/>
            <a:r>
              <a:rPr lang="en-IN" dirty="0"/>
              <a:t>// Load all orders from the file</a:t>
            </a:r>
          </a:p>
          <a:p>
            <a:pPr algn="ctr"/>
            <a:r>
              <a:rPr lang="en-IN" dirty="0"/>
              <a:t>void </a:t>
            </a:r>
            <a:r>
              <a:rPr lang="en-IN" dirty="0" err="1"/>
              <a:t>loadOrders</a:t>
            </a:r>
            <a:r>
              <a:rPr lang="en-IN" dirty="0"/>
              <a:t>() {</a:t>
            </a:r>
          </a:p>
          <a:p>
            <a:pPr algn="ctr"/>
            <a:r>
              <a:rPr lang="en-IN" dirty="0"/>
              <a:t>    </a:t>
            </a:r>
            <a:r>
              <a:rPr lang="en-IN" dirty="0" err="1"/>
              <a:t>ifstream</a:t>
            </a:r>
            <a:r>
              <a:rPr lang="en-IN" dirty="0"/>
              <a:t> file("orders.csv");</a:t>
            </a:r>
          </a:p>
          <a:p>
            <a:pPr algn="ctr"/>
            <a:r>
              <a:rPr lang="en-IN" dirty="0"/>
              <a:t>    Order t;</a:t>
            </a:r>
          </a:p>
          <a:p>
            <a:pPr algn="ctr"/>
            <a:r>
              <a:rPr lang="en-IN" dirty="0"/>
              <a:t>    string amount;</a:t>
            </a:r>
          </a:p>
          <a:p>
            <a:pPr algn="ctr"/>
            <a:endParaRPr lang="en-IN" dirty="0"/>
          </a:p>
          <a:p>
            <a:pPr algn="ctr"/>
            <a:r>
              <a:rPr lang="en-IN" dirty="0"/>
              <a:t>    while (</a:t>
            </a:r>
            <a:r>
              <a:rPr lang="en-IN" dirty="0" err="1"/>
              <a:t>getline</a:t>
            </a:r>
            <a:r>
              <a:rPr lang="en-IN" dirty="0"/>
              <a:t>(file, </a:t>
            </a:r>
            <a:r>
              <a:rPr lang="en-IN" dirty="0" err="1"/>
              <a:t>t.type</a:t>
            </a:r>
            <a:r>
              <a:rPr lang="en-IN" dirty="0"/>
              <a:t>, ',')) {</a:t>
            </a:r>
          </a:p>
          <a:p>
            <a:pPr algn="ctr"/>
            <a:r>
              <a:rPr lang="en-IN" dirty="0"/>
              <a:t>        </a:t>
            </a:r>
            <a:r>
              <a:rPr lang="en-IN" dirty="0" err="1"/>
              <a:t>getline</a:t>
            </a:r>
            <a:r>
              <a:rPr lang="en-IN" dirty="0"/>
              <a:t>(file, amount, ',');</a:t>
            </a:r>
          </a:p>
          <a:p>
            <a:pPr algn="ctr"/>
            <a:r>
              <a:rPr lang="en-IN" dirty="0"/>
              <a:t>        </a:t>
            </a:r>
            <a:r>
              <a:rPr lang="en-IN" dirty="0" err="1"/>
              <a:t>getline</a:t>
            </a:r>
            <a:r>
              <a:rPr lang="en-IN" dirty="0"/>
              <a:t>(file, </a:t>
            </a:r>
            <a:r>
              <a:rPr lang="en-IN" dirty="0" err="1"/>
              <a:t>t.date</a:t>
            </a:r>
            <a:r>
              <a:rPr lang="en-IN" dirty="0"/>
              <a:t>);</a:t>
            </a:r>
          </a:p>
          <a:p>
            <a:pPr algn="ctr"/>
            <a:r>
              <a:rPr lang="en-IN" dirty="0"/>
              <a:t>        </a:t>
            </a:r>
            <a:r>
              <a:rPr lang="en-IN" dirty="0" err="1"/>
              <a:t>t.amount</a:t>
            </a:r>
            <a:r>
              <a:rPr lang="en-IN" dirty="0"/>
              <a:t> = </a:t>
            </a:r>
            <a:r>
              <a:rPr lang="en-IN" dirty="0" err="1"/>
              <a:t>stod</a:t>
            </a:r>
            <a:r>
              <a:rPr lang="en-IN" dirty="0"/>
              <a:t>(amount);</a:t>
            </a:r>
          </a:p>
          <a:p>
            <a:pPr algn="ctr"/>
            <a:r>
              <a:rPr lang="en-IN" dirty="0"/>
              <a:t>        </a:t>
            </a:r>
            <a:r>
              <a:rPr lang="en-IN" dirty="0" err="1"/>
              <a:t>history.push_back</a:t>
            </a:r>
            <a:r>
              <a:rPr lang="en-IN" dirty="0"/>
              <a:t>(t);</a:t>
            </a:r>
          </a:p>
          <a:p>
            <a:pPr algn="ctr"/>
            <a:r>
              <a:rPr lang="en-IN" dirty="0"/>
              <a:t>    }</a:t>
            </a:r>
          </a:p>
          <a:p>
            <a:pPr algn="ctr"/>
            <a:r>
              <a:rPr lang="en-IN" dirty="0"/>
              <a:t>}</a:t>
            </a:r>
            <a:endParaRPr dirty="0"/>
          </a:p>
        </p:txBody>
      </p:sp>
      <p:sp>
        <p:nvSpPr>
          <p:cNvPr id="8" name="TextBox 7">
            <a:extLst>
              <a:ext uri="{FF2B5EF4-FFF2-40B4-BE49-F238E27FC236}">
                <a16:creationId xmlns:a16="http://schemas.microsoft.com/office/drawing/2014/main" id="{079DC47D-86CD-126A-0C11-7DC56A0F9F91}"/>
              </a:ext>
            </a:extLst>
          </p:cNvPr>
          <p:cNvSpPr txBox="1"/>
          <p:nvPr/>
        </p:nvSpPr>
        <p:spPr>
          <a:xfrm>
            <a:off x="7526764" y="1589435"/>
            <a:ext cx="3342289" cy="39703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j-lt"/>
              </a:rPr>
              <a:t>f stream writes a order to the file.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j-lt"/>
              </a:rPr>
              <a:t>If stream reads the orders back into the vector.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mj-lt"/>
              </a:rPr>
              <a:t>Each line is one order, separated by commas</a:t>
            </a:r>
            <a:r>
              <a:rPr kumimoji="0" lang="en-US" altLang="en-US" sz="2800" b="0" i="0" u="none" strike="noStrike" cap="none" normalizeH="0" baseline="0" dirty="0">
                <a:ln>
                  <a:noFill/>
                </a:ln>
                <a:solidFill>
                  <a:schemeClr val="tx1"/>
                </a:solidFill>
                <a:effectLst/>
                <a:latin typeface="Arial" panose="020B0604020202020204" pitchFamily="34" charset="0"/>
              </a:rPr>
              <a:t>. </a:t>
            </a:r>
          </a:p>
        </p:txBody>
      </p:sp>
      <p:pic>
        <p:nvPicPr>
          <p:cNvPr id="9" name="Picture 8">
            <a:extLst>
              <a:ext uri="{FF2B5EF4-FFF2-40B4-BE49-F238E27FC236}">
                <a16:creationId xmlns:a16="http://schemas.microsoft.com/office/drawing/2014/main" id="{2A0B96C1-F4C0-EFF1-C0A7-FA688A6E39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31" y="-10509"/>
            <a:ext cx="2312276" cy="681036"/>
          </a:xfrm>
          <a:prstGeom prst="rect">
            <a:avLst/>
          </a:prstGeom>
        </p:spPr>
      </p:pic>
    </p:spTree>
    <p:extLst>
      <p:ext uri="{BB962C8B-B14F-4D97-AF65-F5344CB8AC3E}">
        <p14:creationId xmlns:p14="http://schemas.microsoft.com/office/powerpoint/2010/main" val="3234287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F86A1-2E39-7D7E-41CD-E2B03474C5E7}"/>
              </a:ext>
            </a:extLst>
          </p:cNvPr>
          <p:cNvSpPr>
            <a:spLocks noGrp="1"/>
          </p:cNvSpPr>
          <p:nvPr>
            <p:ph type="title"/>
          </p:nvPr>
        </p:nvSpPr>
        <p:spPr>
          <a:xfrm>
            <a:off x="838200" y="1"/>
            <a:ext cx="10515600" cy="681036"/>
          </a:xfrm>
        </p:spPr>
        <p:txBody>
          <a:bodyPr>
            <a:normAutofit fontScale="90000"/>
          </a:bodyPr>
          <a:lstStyle/>
          <a:p>
            <a:pPr algn="ctr"/>
            <a:r>
              <a:rPr lang="en-IN" dirty="0"/>
              <a:t>Input Validation</a:t>
            </a:r>
          </a:p>
        </p:txBody>
      </p:sp>
      <p:sp>
        <p:nvSpPr>
          <p:cNvPr id="6" name="Rounded Rectangle 18">
            <a:extLst>
              <a:ext uri="{FF2B5EF4-FFF2-40B4-BE49-F238E27FC236}">
                <a16:creationId xmlns:a16="http://schemas.microsoft.com/office/drawing/2014/main" id="{AEF6DF42-5767-D824-FD72-CD7986488754}"/>
              </a:ext>
            </a:extLst>
          </p:cNvPr>
          <p:cNvSpPr/>
          <p:nvPr/>
        </p:nvSpPr>
        <p:spPr>
          <a:xfrm>
            <a:off x="2638995" y="1090940"/>
            <a:ext cx="7335322" cy="4905059"/>
          </a:xfrm>
          <a:prstGeom prst="roundRect">
            <a:avLst/>
          </a:prstGeom>
          <a:solidFill>
            <a:srgbClr val="1C2026"/>
          </a:solidFill>
          <a:ln>
            <a:solidFill>
              <a:srgbClr val="3C41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double getAmount() {</a:t>
            </a:r>
          </a:p>
          <a:p>
            <a:pPr algn="ctr"/>
            <a:r>
              <a:rPr lang="en-US"/>
              <a:t>    double amount;</a:t>
            </a:r>
          </a:p>
          <a:p>
            <a:pPr algn="ctr"/>
            <a:r>
              <a:rPr lang="en-US"/>
              <a:t>    cout &lt;&lt; "Enter amount: ";</a:t>
            </a:r>
          </a:p>
          <a:p>
            <a:pPr algn="ctr"/>
            <a:r>
              <a:rPr lang="en-US"/>
              <a:t>    cin &gt;&gt; amount;</a:t>
            </a:r>
          </a:p>
          <a:p>
            <a:pPr algn="ctr"/>
            <a:endParaRPr lang="en-US"/>
          </a:p>
          <a:p>
            <a:pPr algn="ctr"/>
            <a:r>
              <a:rPr lang="en-US"/>
              <a:t>    while (cin.fail() || amount &lt;= 0) {</a:t>
            </a:r>
          </a:p>
          <a:p>
            <a:pPr algn="ctr"/>
            <a:r>
              <a:rPr lang="en-US"/>
              <a:t>        cin.clear();</a:t>
            </a:r>
          </a:p>
          <a:p>
            <a:pPr algn="ctr"/>
            <a:r>
              <a:rPr lang="en-US"/>
              <a:t>        cin.ignore(1000, '\n');</a:t>
            </a:r>
          </a:p>
          <a:p>
            <a:pPr algn="ctr"/>
            <a:r>
              <a:rPr lang="en-US"/>
              <a:t>        cout &lt;&lt; "Invalid amount. Enter again: ";</a:t>
            </a:r>
          </a:p>
          <a:p>
            <a:pPr algn="ctr"/>
            <a:r>
              <a:rPr lang="en-US"/>
              <a:t>        cin &gt;&gt; amount;</a:t>
            </a:r>
          </a:p>
          <a:p>
            <a:pPr algn="ctr"/>
            <a:r>
              <a:rPr lang="en-US"/>
              <a:t>    }</a:t>
            </a:r>
          </a:p>
          <a:p>
            <a:pPr algn="ctr"/>
            <a:r>
              <a:rPr lang="en-US"/>
              <a:t>    return amount;</a:t>
            </a:r>
          </a:p>
          <a:p>
            <a:pPr algn="ctr"/>
            <a:r>
              <a:rPr lang="en-US"/>
              <a:t>}</a:t>
            </a:r>
            <a:endParaRPr/>
          </a:p>
        </p:txBody>
      </p:sp>
      <p:pic>
        <p:nvPicPr>
          <p:cNvPr id="7" name="Picture 6">
            <a:extLst>
              <a:ext uri="{FF2B5EF4-FFF2-40B4-BE49-F238E27FC236}">
                <a16:creationId xmlns:a16="http://schemas.microsoft.com/office/drawing/2014/main" id="{A973FC3B-5B38-D164-AE5B-039A499930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31" y="-10509"/>
            <a:ext cx="2312276" cy="681036"/>
          </a:xfrm>
          <a:prstGeom prst="rect">
            <a:avLst/>
          </a:prstGeom>
        </p:spPr>
      </p:pic>
    </p:spTree>
    <p:extLst>
      <p:ext uri="{BB962C8B-B14F-4D97-AF65-F5344CB8AC3E}">
        <p14:creationId xmlns:p14="http://schemas.microsoft.com/office/powerpoint/2010/main" val="563751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30F77-692F-121C-829E-4EC87906DCB5}"/>
              </a:ext>
            </a:extLst>
          </p:cNvPr>
          <p:cNvSpPr>
            <a:spLocks noGrp="1"/>
          </p:cNvSpPr>
          <p:nvPr>
            <p:ph type="title"/>
          </p:nvPr>
        </p:nvSpPr>
        <p:spPr>
          <a:xfrm>
            <a:off x="838200" y="0"/>
            <a:ext cx="10515600" cy="1210087"/>
          </a:xfrm>
        </p:spPr>
        <p:txBody>
          <a:bodyPr>
            <a:normAutofit/>
          </a:bodyPr>
          <a:lstStyle/>
          <a:p>
            <a:pPr algn="ctr"/>
            <a:r>
              <a:rPr lang="en-IN" sz="3600" dirty="0"/>
              <a:t>GUI and Event-Driven Programming</a:t>
            </a:r>
          </a:p>
        </p:txBody>
      </p:sp>
      <p:sp>
        <p:nvSpPr>
          <p:cNvPr id="4" name="Rounded Rectangle 18">
            <a:extLst>
              <a:ext uri="{FF2B5EF4-FFF2-40B4-BE49-F238E27FC236}">
                <a16:creationId xmlns:a16="http://schemas.microsoft.com/office/drawing/2014/main" id="{EFA6187F-84C7-64A1-4189-E781025E814C}"/>
              </a:ext>
            </a:extLst>
          </p:cNvPr>
          <p:cNvSpPr>
            <a:spLocks noGrp="1"/>
          </p:cNvSpPr>
          <p:nvPr>
            <p:ph idx="1"/>
          </p:nvPr>
        </p:nvSpPr>
        <p:spPr>
          <a:xfrm>
            <a:off x="178676" y="1123853"/>
            <a:ext cx="6753066" cy="5343114"/>
          </a:xfrm>
          <a:prstGeom prst="roundRect">
            <a:avLst/>
          </a:prstGeom>
          <a:solidFill>
            <a:srgbClr val="1C2026"/>
          </a:solidFill>
          <a:ln>
            <a:solidFill>
              <a:srgbClr val="3C4148"/>
            </a:solidFill>
          </a:ln>
          <a:effectLst/>
        </p:spPr>
        <p:style>
          <a:lnRef idx="1">
            <a:schemeClr val="accent1"/>
          </a:lnRef>
          <a:fillRef idx="3">
            <a:schemeClr val="accent1"/>
          </a:fillRef>
          <a:effectRef idx="2">
            <a:schemeClr val="accent1"/>
          </a:effectRef>
          <a:fontRef idx="minor">
            <a:schemeClr val="lt1"/>
          </a:fontRef>
        </p:style>
        <p:txBody>
          <a:bodyPr rtlCol="0" anchor="ctr">
            <a:normAutofit fontScale="55000" lnSpcReduction="20000"/>
          </a:bodyPr>
          <a:lstStyle/>
          <a:p>
            <a:pPr marL="0" lvl="0" indent="0" eaLnBrk="0" fontAlgn="base" hangingPunct="0">
              <a:lnSpc>
                <a:spcPct val="100000"/>
              </a:lnSpc>
              <a:spcBef>
                <a:spcPct val="0"/>
              </a:spcBef>
              <a:spcAft>
                <a:spcPct val="0"/>
              </a:spcAft>
              <a:buNone/>
            </a:pPr>
            <a:r>
              <a:rPr lang="en-IN" dirty="0"/>
              <a:t>#include &lt;</a:t>
            </a:r>
            <a:r>
              <a:rPr lang="en-IN" dirty="0" err="1"/>
              <a:t>QApplication</a:t>
            </a:r>
            <a:r>
              <a:rPr lang="en-IN" dirty="0"/>
              <a:t>&gt;</a:t>
            </a:r>
          </a:p>
          <a:p>
            <a:r>
              <a:rPr lang="en-IN" dirty="0"/>
              <a:t>#include &lt;</a:t>
            </a:r>
            <a:r>
              <a:rPr lang="en-IN" dirty="0" err="1"/>
              <a:t>QPushButton</a:t>
            </a:r>
            <a:r>
              <a:rPr lang="en-IN" dirty="0"/>
              <a:t>&gt;</a:t>
            </a:r>
          </a:p>
          <a:p>
            <a:endParaRPr lang="en-IN" dirty="0"/>
          </a:p>
          <a:p>
            <a:r>
              <a:rPr lang="en-IN" dirty="0"/>
              <a:t>int main(int </a:t>
            </a:r>
            <a:r>
              <a:rPr lang="en-IN" dirty="0" err="1"/>
              <a:t>argc</a:t>
            </a:r>
            <a:r>
              <a:rPr lang="en-IN" dirty="0"/>
              <a:t>, char *</a:t>
            </a:r>
            <a:r>
              <a:rPr lang="en-IN" dirty="0" err="1"/>
              <a:t>argv</a:t>
            </a:r>
            <a:r>
              <a:rPr lang="en-IN" dirty="0"/>
              <a:t>[]) {</a:t>
            </a:r>
          </a:p>
          <a:p>
            <a:r>
              <a:rPr lang="en-IN" dirty="0"/>
              <a:t>    </a:t>
            </a:r>
            <a:r>
              <a:rPr lang="en-IN" dirty="0" err="1"/>
              <a:t>QApplication</a:t>
            </a:r>
            <a:r>
              <a:rPr lang="en-IN" dirty="0"/>
              <a:t> app(</a:t>
            </a:r>
            <a:r>
              <a:rPr lang="en-IN" dirty="0" err="1"/>
              <a:t>argc</a:t>
            </a:r>
            <a:r>
              <a:rPr lang="en-IN" dirty="0"/>
              <a:t>, </a:t>
            </a:r>
            <a:r>
              <a:rPr lang="en-IN" dirty="0" err="1"/>
              <a:t>argv</a:t>
            </a:r>
            <a:r>
              <a:rPr lang="en-IN" dirty="0"/>
              <a:t>);</a:t>
            </a:r>
          </a:p>
          <a:p>
            <a:endParaRPr lang="en-IN" dirty="0"/>
          </a:p>
          <a:p>
            <a:r>
              <a:rPr lang="en-IN" dirty="0"/>
              <a:t>    </a:t>
            </a:r>
            <a:r>
              <a:rPr lang="en-IN" dirty="0" err="1"/>
              <a:t>QPushButton</a:t>
            </a:r>
            <a:r>
              <a:rPr lang="en-IN" dirty="0"/>
              <a:t> button("Remove Item");</a:t>
            </a:r>
          </a:p>
          <a:p>
            <a:endParaRPr lang="en-IN" dirty="0"/>
          </a:p>
          <a:p>
            <a:r>
              <a:rPr lang="en-IN" dirty="0"/>
              <a:t>    // Event: when the button is clicked</a:t>
            </a:r>
          </a:p>
          <a:p>
            <a:r>
              <a:rPr lang="en-IN" dirty="0"/>
              <a:t>    </a:t>
            </a:r>
            <a:r>
              <a:rPr lang="en-IN" dirty="0" err="1"/>
              <a:t>QObject</a:t>
            </a:r>
            <a:r>
              <a:rPr lang="en-IN" dirty="0"/>
              <a:t>::connect(&amp;button, &amp;</a:t>
            </a:r>
            <a:r>
              <a:rPr lang="en-IN" dirty="0" err="1"/>
              <a:t>QPushButton</a:t>
            </a:r>
            <a:r>
              <a:rPr lang="en-IN" dirty="0"/>
              <a:t>::clicked, []() {</a:t>
            </a:r>
          </a:p>
          <a:p>
            <a:r>
              <a:rPr lang="en-IN" dirty="0"/>
              <a:t>        </a:t>
            </a:r>
            <a:r>
              <a:rPr lang="en-IN" dirty="0" err="1"/>
              <a:t>qDebug</a:t>
            </a:r>
            <a:r>
              <a:rPr lang="en-IN" dirty="0"/>
              <a:t>("Remove Item button clicked");</a:t>
            </a:r>
          </a:p>
          <a:p>
            <a:r>
              <a:rPr lang="en-IN" dirty="0"/>
              <a:t>    });</a:t>
            </a:r>
          </a:p>
          <a:p>
            <a:endParaRPr lang="en-IN" dirty="0"/>
          </a:p>
          <a:p>
            <a:r>
              <a:rPr lang="en-IN" dirty="0"/>
              <a:t>    </a:t>
            </a:r>
            <a:r>
              <a:rPr lang="en-IN" dirty="0" err="1"/>
              <a:t>button.show</a:t>
            </a:r>
            <a:r>
              <a:rPr lang="en-IN" dirty="0"/>
              <a:t>();</a:t>
            </a:r>
          </a:p>
          <a:p>
            <a:r>
              <a:rPr lang="en-IN" dirty="0"/>
              <a:t>    return </a:t>
            </a:r>
            <a:r>
              <a:rPr lang="en-IN" dirty="0" err="1"/>
              <a:t>app.exec</a:t>
            </a:r>
            <a:r>
              <a:rPr lang="en-IN" dirty="0"/>
              <a:t>();</a:t>
            </a:r>
          </a:p>
          <a:p>
            <a:r>
              <a:rPr lang="en-IN" dirty="0"/>
              <a:t>}</a:t>
            </a:r>
          </a:p>
        </p:txBody>
      </p:sp>
      <p:sp>
        <p:nvSpPr>
          <p:cNvPr id="14" name="TextBox 13">
            <a:extLst>
              <a:ext uri="{FF2B5EF4-FFF2-40B4-BE49-F238E27FC236}">
                <a16:creationId xmlns:a16="http://schemas.microsoft.com/office/drawing/2014/main" id="{97D5A326-2879-4A9A-4C0A-4E2134E59FED}"/>
              </a:ext>
            </a:extLst>
          </p:cNvPr>
          <p:cNvSpPr txBox="1"/>
          <p:nvPr/>
        </p:nvSpPr>
        <p:spPr>
          <a:xfrm>
            <a:off x="7149662" y="1210087"/>
            <a:ext cx="4204138" cy="517064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GUI means windows, buttons, and text boxes instead of a text menu.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Event-driven programming means the program waits for the user to do something.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A button click is an event.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Each event runs its own function.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connect() links the event to its function.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mj-lt"/>
              </a:rPr>
              <a:t>app.exec</a:t>
            </a:r>
            <a:r>
              <a:rPr kumimoji="0" lang="en-US" altLang="en-US" sz="2400" b="0" i="0" u="none" strike="noStrike" cap="none" normalizeH="0" baseline="0" dirty="0">
                <a:ln>
                  <a:noFill/>
                </a:ln>
                <a:solidFill>
                  <a:schemeClr val="tx1"/>
                </a:solidFill>
                <a:effectLst/>
                <a:latin typeface="+mj-lt"/>
              </a:rPr>
              <a:t>() keeps waiting for event </a:t>
            </a:r>
          </a:p>
        </p:txBody>
      </p:sp>
      <p:pic>
        <p:nvPicPr>
          <p:cNvPr id="15" name="Picture 14">
            <a:extLst>
              <a:ext uri="{FF2B5EF4-FFF2-40B4-BE49-F238E27FC236}">
                <a16:creationId xmlns:a16="http://schemas.microsoft.com/office/drawing/2014/main" id="{BCD491A3-753B-DADC-E55B-5D8FD6167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676" y="152399"/>
            <a:ext cx="1902373" cy="518127"/>
          </a:xfrm>
          <a:prstGeom prst="rect">
            <a:avLst/>
          </a:prstGeom>
        </p:spPr>
      </p:pic>
    </p:spTree>
    <p:extLst>
      <p:ext uri="{BB962C8B-B14F-4D97-AF65-F5344CB8AC3E}">
        <p14:creationId xmlns:p14="http://schemas.microsoft.com/office/powerpoint/2010/main" val="570651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44874-EDA4-5D81-376E-02A9A9248932}"/>
              </a:ext>
            </a:extLst>
          </p:cNvPr>
          <p:cNvSpPr>
            <a:spLocks noGrp="1"/>
          </p:cNvSpPr>
          <p:nvPr>
            <p:ph type="title"/>
          </p:nvPr>
        </p:nvSpPr>
        <p:spPr>
          <a:xfrm>
            <a:off x="838200" y="-59187"/>
            <a:ext cx="10515600" cy="872358"/>
          </a:xfrm>
        </p:spPr>
        <p:txBody>
          <a:bodyPr/>
          <a:lstStyle/>
          <a:p>
            <a:pPr algn="ctr"/>
            <a:r>
              <a:rPr lang="en-IN" dirty="0"/>
              <a:t>Testing and Validation</a:t>
            </a:r>
          </a:p>
        </p:txBody>
      </p:sp>
      <p:graphicFrame>
        <p:nvGraphicFramePr>
          <p:cNvPr id="4" name="Content Placeholder 3">
            <a:extLst>
              <a:ext uri="{FF2B5EF4-FFF2-40B4-BE49-F238E27FC236}">
                <a16:creationId xmlns:a16="http://schemas.microsoft.com/office/drawing/2014/main" id="{C6CB61BF-7502-F9E9-EB9F-D85414A38725}"/>
              </a:ext>
            </a:extLst>
          </p:cNvPr>
          <p:cNvGraphicFramePr>
            <a:graphicFrameLocks noGrp="1"/>
          </p:cNvGraphicFramePr>
          <p:nvPr>
            <p:ph idx="1"/>
            <p:extLst>
              <p:ext uri="{D42A27DB-BD31-4B8C-83A1-F6EECF244321}">
                <p14:modId xmlns:p14="http://schemas.microsoft.com/office/powerpoint/2010/main" val="2576764583"/>
              </p:ext>
            </p:extLst>
          </p:nvPr>
        </p:nvGraphicFramePr>
        <p:xfrm>
          <a:off x="838199" y="957263"/>
          <a:ext cx="10920665" cy="5523745"/>
        </p:xfrm>
        <a:graphic>
          <a:graphicData uri="http://schemas.openxmlformats.org/drawingml/2006/table">
            <a:tbl>
              <a:tblPr/>
              <a:tblGrid>
                <a:gridCol w="2184133">
                  <a:extLst>
                    <a:ext uri="{9D8B030D-6E8A-4147-A177-3AD203B41FA5}">
                      <a16:colId xmlns:a16="http://schemas.microsoft.com/office/drawing/2014/main" val="2410568595"/>
                    </a:ext>
                  </a:extLst>
                </a:gridCol>
                <a:gridCol w="2184133">
                  <a:extLst>
                    <a:ext uri="{9D8B030D-6E8A-4147-A177-3AD203B41FA5}">
                      <a16:colId xmlns:a16="http://schemas.microsoft.com/office/drawing/2014/main" val="45218910"/>
                    </a:ext>
                  </a:extLst>
                </a:gridCol>
                <a:gridCol w="2184133">
                  <a:extLst>
                    <a:ext uri="{9D8B030D-6E8A-4147-A177-3AD203B41FA5}">
                      <a16:colId xmlns:a16="http://schemas.microsoft.com/office/drawing/2014/main" val="3940677295"/>
                    </a:ext>
                  </a:extLst>
                </a:gridCol>
                <a:gridCol w="2184133">
                  <a:extLst>
                    <a:ext uri="{9D8B030D-6E8A-4147-A177-3AD203B41FA5}">
                      <a16:colId xmlns:a16="http://schemas.microsoft.com/office/drawing/2014/main" val="657573559"/>
                    </a:ext>
                  </a:extLst>
                </a:gridCol>
                <a:gridCol w="2184133">
                  <a:extLst>
                    <a:ext uri="{9D8B030D-6E8A-4147-A177-3AD203B41FA5}">
                      <a16:colId xmlns:a16="http://schemas.microsoft.com/office/drawing/2014/main" val="3448741813"/>
                    </a:ext>
                  </a:extLst>
                </a:gridCol>
              </a:tblGrid>
              <a:tr h="401727">
                <a:tc>
                  <a:txBody>
                    <a:bodyPr/>
                    <a:lstStyle/>
                    <a:p>
                      <a:r>
                        <a:rPr lang="en-IN"/>
                        <a:t>Test No.</a:t>
                      </a:r>
                    </a:p>
                  </a:txBody>
                  <a:tcPr anchor="ctr">
                    <a:lnL>
                      <a:noFill/>
                    </a:lnL>
                    <a:lnR>
                      <a:noFill/>
                    </a:lnR>
                    <a:lnT>
                      <a:noFill/>
                    </a:lnT>
                    <a:lnB>
                      <a:noFill/>
                    </a:lnB>
                  </a:tcPr>
                </a:tc>
                <a:tc>
                  <a:txBody>
                    <a:bodyPr/>
                    <a:lstStyle/>
                    <a:p>
                      <a:r>
                        <a:rPr lang="en-IN"/>
                        <a:t>Feature</a:t>
                      </a:r>
                    </a:p>
                  </a:txBody>
                  <a:tcPr anchor="ctr">
                    <a:lnL>
                      <a:noFill/>
                    </a:lnL>
                    <a:lnR>
                      <a:noFill/>
                    </a:lnR>
                    <a:lnT>
                      <a:noFill/>
                    </a:lnT>
                    <a:lnB>
                      <a:noFill/>
                    </a:lnB>
                  </a:tcPr>
                </a:tc>
                <a:tc>
                  <a:txBody>
                    <a:bodyPr/>
                    <a:lstStyle/>
                    <a:p>
                      <a:r>
                        <a:rPr lang="en-IN"/>
                        <a:t>Input</a:t>
                      </a:r>
                    </a:p>
                  </a:txBody>
                  <a:tcPr anchor="ctr">
                    <a:lnL>
                      <a:noFill/>
                    </a:lnL>
                    <a:lnR>
                      <a:noFill/>
                    </a:lnR>
                    <a:lnT>
                      <a:noFill/>
                    </a:lnT>
                    <a:lnB>
                      <a:noFill/>
                    </a:lnB>
                  </a:tcPr>
                </a:tc>
                <a:tc>
                  <a:txBody>
                    <a:bodyPr/>
                    <a:lstStyle/>
                    <a:p>
                      <a:r>
                        <a:rPr lang="en-IN"/>
                        <a:t>Expected Output</a:t>
                      </a:r>
                    </a:p>
                  </a:txBody>
                  <a:tcPr anchor="ctr">
                    <a:lnL>
                      <a:noFill/>
                    </a:lnL>
                    <a:lnR>
                      <a:noFill/>
                    </a:lnR>
                    <a:lnT>
                      <a:noFill/>
                    </a:lnT>
                    <a:lnB>
                      <a:noFill/>
                    </a:lnB>
                  </a:tcPr>
                </a:tc>
                <a:tc>
                  <a:txBody>
                    <a:bodyPr/>
                    <a:lstStyle/>
                    <a:p>
                      <a:r>
                        <a:rPr lang="en-IN"/>
                        <a:t>Result</a:t>
                      </a:r>
                    </a:p>
                  </a:txBody>
                  <a:tcPr anchor="ctr">
                    <a:lnL>
                      <a:noFill/>
                    </a:lnL>
                    <a:lnR>
                      <a:noFill/>
                    </a:lnR>
                    <a:lnT>
                      <a:noFill/>
                    </a:lnT>
                    <a:lnB>
                      <a:noFill/>
                    </a:lnB>
                  </a:tcPr>
                </a:tc>
                <a:extLst>
                  <a:ext uri="{0D108BD9-81ED-4DB2-BD59-A6C34878D82A}">
                    <a16:rowId xmlns:a16="http://schemas.microsoft.com/office/drawing/2014/main" val="3379537843"/>
                  </a:ext>
                </a:extLst>
              </a:tr>
              <a:tr h="703022">
                <a:tc>
                  <a:txBody>
                    <a:bodyPr/>
                    <a:lstStyle/>
                    <a:p>
                      <a:r>
                        <a:rPr lang="en-IN"/>
                        <a:t>1</a:t>
                      </a:r>
                    </a:p>
                  </a:txBody>
                  <a:tcPr anchor="ctr">
                    <a:lnL>
                      <a:noFill/>
                    </a:lnL>
                    <a:lnR>
                      <a:noFill/>
                    </a:lnR>
                    <a:lnT>
                      <a:noFill/>
                    </a:lnT>
                    <a:lnB>
                      <a:noFill/>
                    </a:lnB>
                  </a:tcPr>
                </a:tc>
                <a:tc>
                  <a:txBody>
                    <a:bodyPr/>
                    <a:lstStyle/>
                    <a:p>
                      <a:r>
                        <a:rPr lang="en-IN"/>
                        <a:t>Deposit</a:t>
                      </a:r>
                    </a:p>
                  </a:txBody>
                  <a:tcPr anchor="ctr">
                    <a:lnL>
                      <a:noFill/>
                    </a:lnL>
                    <a:lnR>
                      <a:noFill/>
                    </a:lnR>
                    <a:lnT>
                      <a:noFill/>
                    </a:lnT>
                    <a:lnB>
                      <a:noFill/>
                    </a:lnB>
                  </a:tcPr>
                </a:tc>
                <a:tc>
                  <a:txBody>
                    <a:bodyPr/>
                    <a:lstStyle/>
                    <a:p>
                      <a:r>
                        <a:rPr lang="en-IN"/>
                        <a:t>2000</a:t>
                      </a:r>
                    </a:p>
                  </a:txBody>
                  <a:tcPr anchor="ctr">
                    <a:lnL>
                      <a:noFill/>
                    </a:lnL>
                    <a:lnR>
                      <a:noFill/>
                    </a:lnR>
                    <a:lnT>
                      <a:noFill/>
                    </a:lnT>
                    <a:lnB>
                      <a:noFill/>
                    </a:lnB>
                  </a:tcPr>
                </a:tc>
                <a:tc>
                  <a:txBody>
                    <a:bodyPr/>
                    <a:lstStyle/>
                    <a:p>
                      <a:r>
                        <a:rPr lang="en-IN"/>
                        <a:t>Balance increases by 2000</a:t>
                      </a:r>
                    </a:p>
                  </a:txBody>
                  <a:tcPr anchor="ctr">
                    <a:lnL>
                      <a:noFill/>
                    </a:lnL>
                    <a:lnR>
                      <a:noFill/>
                    </a:lnR>
                    <a:lnT>
                      <a:noFill/>
                    </a:lnT>
                    <a:lnB>
                      <a:noFill/>
                    </a:lnB>
                  </a:tcPr>
                </a:tc>
                <a:tc>
                  <a:txBody>
                    <a:bodyPr/>
                    <a:lstStyle/>
                    <a:p>
                      <a:r>
                        <a:rPr lang="en-IN"/>
                        <a:t>Pass</a:t>
                      </a:r>
                    </a:p>
                  </a:txBody>
                  <a:tcPr anchor="ctr">
                    <a:lnL>
                      <a:noFill/>
                    </a:lnL>
                    <a:lnR>
                      <a:noFill/>
                    </a:lnR>
                    <a:lnT>
                      <a:noFill/>
                    </a:lnT>
                    <a:lnB>
                      <a:noFill/>
                    </a:lnB>
                  </a:tcPr>
                </a:tc>
                <a:extLst>
                  <a:ext uri="{0D108BD9-81ED-4DB2-BD59-A6C34878D82A}">
                    <a16:rowId xmlns:a16="http://schemas.microsoft.com/office/drawing/2014/main" val="657974426"/>
                  </a:ext>
                </a:extLst>
              </a:tr>
              <a:tr h="703022">
                <a:tc>
                  <a:txBody>
                    <a:bodyPr/>
                    <a:lstStyle/>
                    <a:p>
                      <a:r>
                        <a:rPr lang="en-IN"/>
                        <a:t>2</a:t>
                      </a:r>
                    </a:p>
                  </a:txBody>
                  <a:tcPr anchor="ctr">
                    <a:lnL>
                      <a:noFill/>
                    </a:lnL>
                    <a:lnR>
                      <a:noFill/>
                    </a:lnR>
                    <a:lnT>
                      <a:noFill/>
                    </a:lnT>
                    <a:lnB>
                      <a:noFill/>
                    </a:lnB>
                  </a:tcPr>
                </a:tc>
                <a:tc>
                  <a:txBody>
                    <a:bodyPr/>
                    <a:lstStyle/>
                    <a:p>
                      <a:r>
                        <a:rPr lang="en-IN"/>
                        <a:t>Withdraw</a:t>
                      </a:r>
                    </a:p>
                  </a:txBody>
                  <a:tcPr anchor="ctr">
                    <a:lnL>
                      <a:noFill/>
                    </a:lnL>
                    <a:lnR>
                      <a:noFill/>
                    </a:lnR>
                    <a:lnT>
                      <a:noFill/>
                    </a:lnT>
                    <a:lnB>
                      <a:noFill/>
                    </a:lnB>
                  </a:tcPr>
                </a:tc>
                <a:tc>
                  <a:txBody>
                    <a:bodyPr/>
                    <a:lstStyle/>
                    <a:p>
                      <a:r>
                        <a:rPr lang="en-IN"/>
                        <a:t>1000</a:t>
                      </a:r>
                    </a:p>
                  </a:txBody>
                  <a:tcPr anchor="ctr">
                    <a:lnL>
                      <a:noFill/>
                    </a:lnL>
                    <a:lnR>
                      <a:noFill/>
                    </a:lnR>
                    <a:lnT>
                      <a:noFill/>
                    </a:lnT>
                    <a:lnB>
                      <a:noFill/>
                    </a:lnB>
                  </a:tcPr>
                </a:tc>
                <a:tc>
                  <a:txBody>
                    <a:bodyPr/>
                    <a:lstStyle/>
                    <a:p>
                      <a:r>
                        <a:rPr lang="en-IN"/>
                        <a:t>Balance decreases by 1000</a:t>
                      </a:r>
                    </a:p>
                  </a:txBody>
                  <a:tcPr anchor="ctr">
                    <a:lnL>
                      <a:noFill/>
                    </a:lnL>
                    <a:lnR>
                      <a:noFill/>
                    </a:lnR>
                    <a:lnT>
                      <a:noFill/>
                    </a:lnT>
                    <a:lnB>
                      <a:noFill/>
                    </a:lnB>
                  </a:tcPr>
                </a:tc>
                <a:tc>
                  <a:txBody>
                    <a:bodyPr/>
                    <a:lstStyle/>
                    <a:p>
                      <a:r>
                        <a:rPr lang="en-IN"/>
                        <a:t>Pass</a:t>
                      </a:r>
                    </a:p>
                  </a:txBody>
                  <a:tcPr anchor="ctr">
                    <a:lnL>
                      <a:noFill/>
                    </a:lnL>
                    <a:lnR>
                      <a:noFill/>
                    </a:lnR>
                    <a:lnT>
                      <a:noFill/>
                    </a:lnT>
                    <a:lnB>
                      <a:noFill/>
                    </a:lnB>
                  </a:tcPr>
                </a:tc>
                <a:extLst>
                  <a:ext uri="{0D108BD9-81ED-4DB2-BD59-A6C34878D82A}">
                    <a16:rowId xmlns:a16="http://schemas.microsoft.com/office/drawing/2014/main" val="4255243926"/>
                  </a:ext>
                </a:extLst>
              </a:tr>
              <a:tr h="703022">
                <a:tc>
                  <a:txBody>
                    <a:bodyPr/>
                    <a:lstStyle/>
                    <a:p>
                      <a:r>
                        <a:rPr lang="en-IN"/>
                        <a:t>3</a:t>
                      </a:r>
                    </a:p>
                  </a:txBody>
                  <a:tcPr anchor="ctr">
                    <a:lnL>
                      <a:noFill/>
                    </a:lnL>
                    <a:lnR>
                      <a:noFill/>
                    </a:lnR>
                    <a:lnT>
                      <a:noFill/>
                    </a:lnT>
                    <a:lnB>
                      <a:noFill/>
                    </a:lnB>
                  </a:tcPr>
                </a:tc>
                <a:tc>
                  <a:txBody>
                    <a:bodyPr/>
                    <a:lstStyle/>
                    <a:p>
                      <a:r>
                        <a:rPr lang="en-IN"/>
                        <a:t>Withdraw more than balance</a:t>
                      </a:r>
                    </a:p>
                  </a:txBody>
                  <a:tcPr anchor="ctr">
                    <a:lnL>
                      <a:noFill/>
                    </a:lnL>
                    <a:lnR>
                      <a:noFill/>
                    </a:lnR>
                    <a:lnT>
                      <a:noFill/>
                    </a:lnT>
                    <a:lnB>
                      <a:noFill/>
                    </a:lnB>
                  </a:tcPr>
                </a:tc>
                <a:tc>
                  <a:txBody>
                    <a:bodyPr/>
                    <a:lstStyle/>
                    <a:p>
                      <a:r>
                        <a:rPr lang="en-IN"/>
                        <a:t>9000</a:t>
                      </a:r>
                    </a:p>
                  </a:txBody>
                  <a:tcPr anchor="ctr">
                    <a:lnL>
                      <a:noFill/>
                    </a:lnL>
                    <a:lnR>
                      <a:noFill/>
                    </a:lnR>
                    <a:lnT>
                      <a:noFill/>
                    </a:lnT>
                    <a:lnB>
                      <a:noFill/>
                    </a:lnB>
                  </a:tcPr>
                </a:tc>
                <a:tc>
                  <a:txBody>
                    <a:bodyPr/>
                    <a:lstStyle/>
                    <a:p>
                      <a:r>
                        <a:rPr lang="en-IN"/>
                        <a:t>"Insufficient balance"</a:t>
                      </a:r>
                    </a:p>
                  </a:txBody>
                  <a:tcPr anchor="ctr">
                    <a:lnL>
                      <a:noFill/>
                    </a:lnL>
                    <a:lnR>
                      <a:noFill/>
                    </a:lnR>
                    <a:lnT>
                      <a:noFill/>
                    </a:lnT>
                    <a:lnB>
                      <a:noFill/>
                    </a:lnB>
                  </a:tcPr>
                </a:tc>
                <a:tc>
                  <a:txBody>
                    <a:bodyPr/>
                    <a:lstStyle/>
                    <a:p>
                      <a:r>
                        <a:rPr lang="en-IN"/>
                        <a:t>Pass</a:t>
                      </a:r>
                    </a:p>
                  </a:txBody>
                  <a:tcPr anchor="ctr">
                    <a:lnL>
                      <a:noFill/>
                    </a:lnL>
                    <a:lnR>
                      <a:noFill/>
                    </a:lnR>
                    <a:lnT>
                      <a:noFill/>
                    </a:lnT>
                    <a:lnB>
                      <a:noFill/>
                    </a:lnB>
                  </a:tcPr>
                </a:tc>
                <a:extLst>
                  <a:ext uri="{0D108BD9-81ED-4DB2-BD59-A6C34878D82A}">
                    <a16:rowId xmlns:a16="http://schemas.microsoft.com/office/drawing/2014/main" val="2281775386"/>
                  </a:ext>
                </a:extLst>
              </a:tr>
              <a:tr h="401727">
                <a:tc>
                  <a:txBody>
                    <a:bodyPr/>
                    <a:lstStyle/>
                    <a:p>
                      <a:r>
                        <a:rPr lang="en-IN"/>
                        <a:t>4</a:t>
                      </a:r>
                    </a:p>
                  </a:txBody>
                  <a:tcPr anchor="ctr">
                    <a:lnL>
                      <a:noFill/>
                    </a:lnL>
                    <a:lnR>
                      <a:noFill/>
                    </a:lnR>
                    <a:lnT>
                      <a:noFill/>
                    </a:lnT>
                    <a:lnB>
                      <a:noFill/>
                    </a:lnB>
                  </a:tcPr>
                </a:tc>
                <a:tc>
                  <a:txBody>
                    <a:bodyPr/>
                    <a:lstStyle/>
                    <a:p>
                      <a:r>
                        <a:rPr lang="en-IN"/>
                        <a:t>Negative amount</a:t>
                      </a:r>
                    </a:p>
                  </a:txBody>
                  <a:tcPr anchor="ctr">
                    <a:lnL>
                      <a:noFill/>
                    </a:lnL>
                    <a:lnR>
                      <a:noFill/>
                    </a:lnR>
                    <a:lnT>
                      <a:noFill/>
                    </a:lnT>
                    <a:lnB>
                      <a:noFill/>
                    </a:lnB>
                  </a:tcPr>
                </a:tc>
                <a:tc>
                  <a:txBody>
                    <a:bodyPr/>
                    <a:lstStyle/>
                    <a:p>
                      <a:r>
                        <a:rPr lang="en-IN"/>
                        <a:t>-500</a:t>
                      </a:r>
                    </a:p>
                  </a:txBody>
                  <a:tcPr anchor="ctr">
                    <a:lnL>
                      <a:noFill/>
                    </a:lnL>
                    <a:lnR>
                      <a:noFill/>
                    </a:lnR>
                    <a:lnT>
                      <a:noFill/>
                    </a:lnT>
                    <a:lnB>
                      <a:noFill/>
                    </a:lnB>
                  </a:tcPr>
                </a:tc>
                <a:tc>
                  <a:txBody>
                    <a:bodyPr/>
                    <a:lstStyle/>
                    <a:p>
                      <a:r>
                        <a:rPr lang="en-IN"/>
                        <a:t>"Invalid amount"</a:t>
                      </a:r>
                    </a:p>
                  </a:txBody>
                  <a:tcPr anchor="ctr">
                    <a:lnL>
                      <a:noFill/>
                    </a:lnL>
                    <a:lnR>
                      <a:noFill/>
                    </a:lnR>
                    <a:lnT>
                      <a:noFill/>
                    </a:lnT>
                    <a:lnB>
                      <a:noFill/>
                    </a:lnB>
                  </a:tcPr>
                </a:tc>
                <a:tc>
                  <a:txBody>
                    <a:bodyPr/>
                    <a:lstStyle/>
                    <a:p>
                      <a:r>
                        <a:rPr lang="en-IN"/>
                        <a:t>Pass</a:t>
                      </a:r>
                    </a:p>
                  </a:txBody>
                  <a:tcPr anchor="ctr">
                    <a:lnL>
                      <a:noFill/>
                    </a:lnL>
                    <a:lnR>
                      <a:noFill/>
                    </a:lnR>
                    <a:lnT>
                      <a:noFill/>
                    </a:lnT>
                    <a:lnB>
                      <a:noFill/>
                    </a:lnB>
                  </a:tcPr>
                </a:tc>
                <a:extLst>
                  <a:ext uri="{0D108BD9-81ED-4DB2-BD59-A6C34878D82A}">
                    <a16:rowId xmlns:a16="http://schemas.microsoft.com/office/drawing/2014/main" val="732436425"/>
                  </a:ext>
                </a:extLst>
              </a:tr>
              <a:tr h="401727">
                <a:tc>
                  <a:txBody>
                    <a:bodyPr/>
                    <a:lstStyle/>
                    <a:p>
                      <a:r>
                        <a:rPr lang="en-IN"/>
                        <a:t>5</a:t>
                      </a:r>
                    </a:p>
                  </a:txBody>
                  <a:tcPr anchor="ctr">
                    <a:lnL>
                      <a:noFill/>
                    </a:lnL>
                    <a:lnR>
                      <a:noFill/>
                    </a:lnR>
                    <a:lnT>
                      <a:noFill/>
                    </a:lnT>
                    <a:lnB>
                      <a:noFill/>
                    </a:lnB>
                  </a:tcPr>
                </a:tc>
                <a:tc>
                  <a:txBody>
                    <a:bodyPr/>
                    <a:lstStyle/>
                    <a:p>
                      <a:r>
                        <a:rPr lang="en-IN"/>
                        <a:t>Letters as amount</a:t>
                      </a:r>
                    </a:p>
                  </a:txBody>
                  <a:tcPr anchor="ctr">
                    <a:lnL>
                      <a:noFill/>
                    </a:lnL>
                    <a:lnR>
                      <a:noFill/>
                    </a:lnR>
                    <a:lnT>
                      <a:noFill/>
                    </a:lnT>
                    <a:lnB>
                      <a:noFill/>
                    </a:lnB>
                  </a:tcPr>
                </a:tc>
                <a:tc>
                  <a:txBody>
                    <a:bodyPr/>
                    <a:lstStyle/>
                    <a:p>
                      <a:r>
                        <a:rPr lang="en-IN"/>
                        <a:t>abc</a:t>
                      </a:r>
                    </a:p>
                  </a:txBody>
                  <a:tcPr anchor="ctr">
                    <a:lnL>
                      <a:noFill/>
                    </a:lnL>
                    <a:lnR>
                      <a:noFill/>
                    </a:lnR>
                    <a:lnT>
                      <a:noFill/>
                    </a:lnT>
                    <a:lnB>
                      <a:noFill/>
                    </a:lnB>
                  </a:tcPr>
                </a:tc>
                <a:tc>
                  <a:txBody>
                    <a:bodyPr/>
                    <a:lstStyle/>
                    <a:p>
                      <a:r>
                        <a:rPr lang="en-IN"/>
                        <a:t>Asks for input again</a:t>
                      </a:r>
                    </a:p>
                  </a:txBody>
                  <a:tcPr anchor="ctr">
                    <a:lnL>
                      <a:noFill/>
                    </a:lnL>
                    <a:lnR>
                      <a:noFill/>
                    </a:lnR>
                    <a:lnT>
                      <a:noFill/>
                    </a:lnT>
                    <a:lnB>
                      <a:noFill/>
                    </a:lnB>
                  </a:tcPr>
                </a:tc>
                <a:tc>
                  <a:txBody>
                    <a:bodyPr/>
                    <a:lstStyle/>
                    <a:p>
                      <a:r>
                        <a:rPr lang="en-IN"/>
                        <a:t>Pass</a:t>
                      </a:r>
                    </a:p>
                  </a:txBody>
                  <a:tcPr anchor="ctr">
                    <a:lnL>
                      <a:noFill/>
                    </a:lnL>
                    <a:lnR>
                      <a:noFill/>
                    </a:lnR>
                    <a:lnT>
                      <a:noFill/>
                    </a:lnT>
                    <a:lnB>
                      <a:noFill/>
                    </a:lnB>
                  </a:tcPr>
                </a:tc>
                <a:extLst>
                  <a:ext uri="{0D108BD9-81ED-4DB2-BD59-A6C34878D82A}">
                    <a16:rowId xmlns:a16="http://schemas.microsoft.com/office/drawing/2014/main" val="2634876375"/>
                  </a:ext>
                </a:extLst>
              </a:tr>
              <a:tr h="401727">
                <a:tc>
                  <a:txBody>
                    <a:bodyPr/>
                    <a:lstStyle/>
                    <a:p>
                      <a:r>
                        <a:rPr lang="en-IN"/>
                        <a:t>6</a:t>
                      </a:r>
                    </a:p>
                  </a:txBody>
                  <a:tcPr anchor="ctr">
                    <a:lnL>
                      <a:noFill/>
                    </a:lnL>
                    <a:lnR>
                      <a:noFill/>
                    </a:lnR>
                    <a:lnT>
                      <a:noFill/>
                    </a:lnT>
                    <a:lnB>
                      <a:noFill/>
                    </a:lnB>
                  </a:tcPr>
                </a:tc>
                <a:tc>
                  <a:txBody>
                    <a:bodyPr/>
                    <a:lstStyle/>
                    <a:p>
                      <a:r>
                        <a:rPr lang="en-IN"/>
                        <a:t>Wrong PIN</a:t>
                      </a:r>
                    </a:p>
                  </a:txBody>
                  <a:tcPr anchor="ctr">
                    <a:lnL>
                      <a:noFill/>
                    </a:lnL>
                    <a:lnR>
                      <a:noFill/>
                    </a:lnR>
                    <a:lnT>
                      <a:noFill/>
                    </a:lnT>
                    <a:lnB>
                      <a:noFill/>
                    </a:lnB>
                  </a:tcPr>
                </a:tc>
                <a:tc>
                  <a:txBody>
                    <a:bodyPr/>
                    <a:lstStyle/>
                    <a:p>
                      <a:r>
                        <a:rPr lang="en-IN"/>
                        <a:t>1111</a:t>
                      </a:r>
                    </a:p>
                  </a:txBody>
                  <a:tcPr anchor="ctr">
                    <a:lnL>
                      <a:noFill/>
                    </a:lnL>
                    <a:lnR>
                      <a:noFill/>
                    </a:lnR>
                    <a:lnT>
                      <a:noFill/>
                    </a:lnT>
                    <a:lnB>
                      <a:noFill/>
                    </a:lnB>
                  </a:tcPr>
                </a:tc>
                <a:tc>
                  <a:txBody>
                    <a:bodyPr/>
                    <a:lstStyle/>
                    <a:p>
                      <a:r>
                        <a:rPr lang="en-IN"/>
                        <a:t>"Incorrect PIN"</a:t>
                      </a:r>
                    </a:p>
                  </a:txBody>
                  <a:tcPr anchor="ctr">
                    <a:lnL>
                      <a:noFill/>
                    </a:lnL>
                    <a:lnR>
                      <a:noFill/>
                    </a:lnR>
                    <a:lnT>
                      <a:noFill/>
                    </a:lnT>
                    <a:lnB>
                      <a:noFill/>
                    </a:lnB>
                  </a:tcPr>
                </a:tc>
                <a:tc>
                  <a:txBody>
                    <a:bodyPr/>
                    <a:lstStyle/>
                    <a:p>
                      <a:r>
                        <a:rPr lang="en-IN"/>
                        <a:t>Pass</a:t>
                      </a:r>
                    </a:p>
                  </a:txBody>
                  <a:tcPr anchor="ctr">
                    <a:lnL>
                      <a:noFill/>
                    </a:lnL>
                    <a:lnR>
                      <a:noFill/>
                    </a:lnR>
                    <a:lnT>
                      <a:noFill/>
                    </a:lnT>
                    <a:lnB>
                      <a:noFill/>
                    </a:lnB>
                  </a:tcPr>
                </a:tc>
                <a:extLst>
                  <a:ext uri="{0D108BD9-81ED-4DB2-BD59-A6C34878D82A}">
                    <a16:rowId xmlns:a16="http://schemas.microsoft.com/office/drawing/2014/main" val="1478167941"/>
                  </a:ext>
                </a:extLst>
              </a:tr>
              <a:tr h="401727">
                <a:tc>
                  <a:txBody>
                    <a:bodyPr/>
                    <a:lstStyle/>
                    <a:p>
                      <a:r>
                        <a:rPr lang="en-IN"/>
                        <a:t>7</a:t>
                      </a:r>
                    </a:p>
                  </a:txBody>
                  <a:tcPr anchor="ctr">
                    <a:lnL>
                      <a:noFill/>
                    </a:lnL>
                    <a:lnR>
                      <a:noFill/>
                    </a:lnR>
                    <a:lnT>
                      <a:noFill/>
                    </a:lnT>
                    <a:lnB>
                      <a:noFill/>
                    </a:lnB>
                  </a:tcPr>
                </a:tc>
                <a:tc>
                  <a:txBody>
                    <a:bodyPr/>
                    <a:lstStyle/>
                    <a:p>
                      <a:r>
                        <a:rPr lang="en-IN"/>
                        <a:t>Correct PIN</a:t>
                      </a:r>
                    </a:p>
                  </a:txBody>
                  <a:tcPr anchor="ctr">
                    <a:lnL>
                      <a:noFill/>
                    </a:lnL>
                    <a:lnR>
                      <a:noFill/>
                    </a:lnR>
                    <a:lnT>
                      <a:noFill/>
                    </a:lnT>
                    <a:lnB>
                      <a:noFill/>
                    </a:lnB>
                  </a:tcPr>
                </a:tc>
                <a:tc>
                  <a:txBody>
                    <a:bodyPr/>
                    <a:lstStyle/>
                    <a:p>
                      <a:r>
                        <a:rPr lang="en-IN"/>
                        <a:t>Valid PIN</a:t>
                      </a:r>
                    </a:p>
                  </a:txBody>
                  <a:tcPr anchor="ctr">
                    <a:lnL>
                      <a:noFill/>
                    </a:lnL>
                    <a:lnR>
                      <a:noFill/>
                    </a:lnR>
                    <a:lnT>
                      <a:noFill/>
                    </a:lnT>
                    <a:lnB>
                      <a:noFill/>
                    </a:lnB>
                  </a:tcPr>
                </a:tc>
                <a:tc>
                  <a:txBody>
                    <a:bodyPr/>
                    <a:lstStyle/>
                    <a:p>
                      <a:r>
                        <a:rPr lang="en-IN"/>
                        <a:t>Login successful</a:t>
                      </a:r>
                    </a:p>
                  </a:txBody>
                  <a:tcPr anchor="ctr">
                    <a:lnL>
                      <a:noFill/>
                    </a:lnL>
                    <a:lnR>
                      <a:noFill/>
                    </a:lnR>
                    <a:lnT>
                      <a:noFill/>
                    </a:lnT>
                    <a:lnB>
                      <a:noFill/>
                    </a:lnB>
                  </a:tcPr>
                </a:tc>
                <a:tc>
                  <a:txBody>
                    <a:bodyPr/>
                    <a:lstStyle/>
                    <a:p>
                      <a:r>
                        <a:rPr lang="en-IN"/>
                        <a:t>Pass</a:t>
                      </a:r>
                    </a:p>
                  </a:txBody>
                  <a:tcPr anchor="ctr">
                    <a:lnL>
                      <a:noFill/>
                    </a:lnL>
                    <a:lnR>
                      <a:noFill/>
                    </a:lnR>
                    <a:lnT>
                      <a:noFill/>
                    </a:lnT>
                    <a:lnB>
                      <a:noFill/>
                    </a:lnB>
                  </a:tcPr>
                </a:tc>
                <a:extLst>
                  <a:ext uri="{0D108BD9-81ED-4DB2-BD59-A6C34878D82A}">
                    <a16:rowId xmlns:a16="http://schemas.microsoft.com/office/drawing/2014/main" val="1084907447"/>
                  </a:ext>
                </a:extLst>
              </a:tr>
              <a:tr h="703022">
                <a:tc>
                  <a:txBody>
                    <a:bodyPr/>
                    <a:lstStyle/>
                    <a:p>
                      <a:r>
                        <a:rPr lang="en-IN"/>
                        <a:t>8</a:t>
                      </a:r>
                    </a:p>
                  </a:txBody>
                  <a:tcPr anchor="ctr">
                    <a:lnL>
                      <a:noFill/>
                    </a:lnL>
                    <a:lnR>
                      <a:noFill/>
                    </a:lnR>
                    <a:lnT>
                      <a:noFill/>
                    </a:lnT>
                    <a:lnB>
                      <a:noFill/>
                    </a:lnB>
                  </a:tcPr>
                </a:tc>
                <a:tc>
                  <a:txBody>
                    <a:bodyPr/>
                    <a:lstStyle/>
                    <a:p>
                      <a:r>
                        <a:rPr lang="en-IN"/>
                        <a:t>File handling</a:t>
                      </a:r>
                    </a:p>
                  </a:txBody>
                  <a:tcPr anchor="ctr">
                    <a:lnL>
                      <a:noFill/>
                    </a:lnL>
                    <a:lnR>
                      <a:noFill/>
                    </a:lnR>
                    <a:lnT>
                      <a:noFill/>
                    </a:lnT>
                    <a:lnB>
                      <a:noFill/>
                    </a:lnB>
                  </a:tcPr>
                </a:tc>
                <a:tc>
                  <a:txBody>
                    <a:bodyPr/>
                    <a:lstStyle/>
                    <a:p>
                      <a:r>
                        <a:rPr lang="en-IN"/>
                        <a:t>Restart program</a:t>
                      </a:r>
                    </a:p>
                  </a:txBody>
                  <a:tcPr anchor="ctr">
                    <a:lnL>
                      <a:noFill/>
                    </a:lnL>
                    <a:lnR>
                      <a:noFill/>
                    </a:lnR>
                    <a:lnT>
                      <a:noFill/>
                    </a:lnT>
                    <a:lnB>
                      <a:noFill/>
                    </a:lnB>
                  </a:tcPr>
                </a:tc>
                <a:tc>
                  <a:txBody>
                    <a:bodyPr/>
                    <a:lstStyle/>
                    <a:p>
                      <a:r>
                        <a:rPr lang="en-IN"/>
                        <a:t>Old transactions are loaded</a:t>
                      </a:r>
                    </a:p>
                  </a:txBody>
                  <a:tcPr anchor="ctr">
                    <a:lnL>
                      <a:noFill/>
                    </a:lnL>
                    <a:lnR>
                      <a:noFill/>
                    </a:lnR>
                    <a:lnT>
                      <a:noFill/>
                    </a:lnT>
                    <a:lnB>
                      <a:noFill/>
                    </a:lnB>
                  </a:tcPr>
                </a:tc>
                <a:tc>
                  <a:txBody>
                    <a:bodyPr/>
                    <a:lstStyle/>
                    <a:p>
                      <a:r>
                        <a:rPr lang="en-IN"/>
                        <a:t>Pass</a:t>
                      </a:r>
                    </a:p>
                  </a:txBody>
                  <a:tcPr anchor="ctr">
                    <a:lnL>
                      <a:noFill/>
                    </a:lnL>
                    <a:lnR>
                      <a:noFill/>
                    </a:lnR>
                    <a:lnT>
                      <a:noFill/>
                    </a:lnT>
                    <a:lnB>
                      <a:noFill/>
                    </a:lnB>
                  </a:tcPr>
                </a:tc>
                <a:extLst>
                  <a:ext uri="{0D108BD9-81ED-4DB2-BD59-A6C34878D82A}">
                    <a16:rowId xmlns:a16="http://schemas.microsoft.com/office/drawing/2014/main" val="1819086622"/>
                  </a:ext>
                </a:extLst>
              </a:tr>
              <a:tr h="703022">
                <a:tc>
                  <a:txBody>
                    <a:bodyPr/>
                    <a:lstStyle/>
                    <a:p>
                      <a:r>
                        <a:rPr lang="en-IN"/>
                        <a:t>9</a:t>
                      </a:r>
                    </a:p>
                  </a:txBody>
                  <a:tcPr anchor="ctr">
                    <a:lnL>
                      <a:noFill/>
                    </a:lnL>
                    <a:lnR>
                      <a:noFill/>
                    </a:lnR>
                    <a:lnT>
                      <a:noFill/>
                    </a:lnT>
                    <a:lnB>
                      <a:noFill/>
                    </a:lnB>
                  </a:tcPr>
                </a:tc>
                <a:tc>
                  <a:txBody>
                    <a:bodyPr/>
                    <a:lstStyle/>
                    <a:p>
                      <a:r>
                        <a:rPr lang="en-IN"/>
                        <a:t>Calculate totals</a:t>
                      </a:r>
                    </a:p>
                  </a:txBody>
                  <a:tcPr anchor="ctr">
                    <a:lnL>
                      <a:noFill/>
                    </a:lnL>
                    <a:lnR>
                      <a:noFill/>
                    </a:lnR>
                    <a:lnT>
                      <a:noFill/>
                    </a:lnT>
                    <a:lnB>
                      <a:noFill/>
                    </a:lnB>
                  </a:tcPr>
                </a:tc>
                <a:tc>
                  <a:txBody>
                    <a:bodyPr/>
                    <a:lstStyle/>
                    <a:p>
                      <a:r>
                        <a:rPr lang="en-IN"/>
                        <a:t>Deposit 5000, Withdraw 2000</a:t>
                      </a:r>
                    </a:p>
                  </a:txBody>
                  <a:tcPr anchor="ctr">
                    <a:lnL>
                      <a:noFill/>
                    </a:lnL>
                    <a:lnR>
                      <a:noFill/>
                    </a:lnR>
                    <a:lnT>
                      <a:noFill/>
                    </a:lnT>
                    <a:lnB>
                      <a:noFill/>
                    </a:lnB>
                  </a:tcPr>
                </a:tc>
                <a:tc>
                  <a:txBody>
                    <a:bodyPr/>
                    <a:lstStyle/>
                    <a:p>
                      <a:r>
                        <a:rPr lang="en-IN"/>
                        <a:t>Balance = 3000</a:t>
                      </a:r>
                    </a:p>
                  </a:txBody>
                  <a:tcPr anchor="ctr">
                    <a:lnL>
                      <a:noFill/>
                    </a:lnL>
                    <a:lnR>
                      <a:noFill/>
                    </a:lnR>
                    <a:lnT>
                      <a:noFill/>
                    </a:lnT>
                    <a:lnB>
                      <a:noFill/>
                    </a:lnB>
                  </a:tcPr>
                </a:tc>
                <a:tc>
                  <a:txBody>
                    <a:bodyPr/>
                    <a:lstStyle/>
                    <a:p>
                      <a:r>
                        <a:rPr lang="en-IN" dirty="0"/>
                        <a:t>Pass</a:t>
                      </a:r>
                    </a:p>
                  </a:txBody>
                  <a:tcPr anchor="ctr">
                    <a:lnL>
                      <a:noFill/>
                    </a:lnL>
                    <a:lnR>
                      <a:noFill/>
                    </a:lnR>
                    <a:lnT>
                      <a:noFill/>
                    </a:lnT>
                    <a:lnB>
                      <a:noFill/>
                    </a:lnB>
                  </a:tcPr>
                </a:tc>
                <a:extLst>
                  <a:ext uri="{0D108BD9-81ED-4DB2-BD59-A6C34878D82A}">
                    <a16:rowId xmlns:a16="http://schemas.microsoft.com/office/drawing/2014/main" val="457594461"/>
                  </a:ext>
                </a:extLst>
              </a:tr>
            </a:tbl>
          </a:graphicData>
        </a:graphic>
      </p:graphicFrame>
      <p:pic>
        <p:nvPicPr>
          <p:cNvPr id="5" name="Picture 4">
            <a:extLst>
              <a:ext uri="{FF2B5EF4-FFF2-40B4-BE49-F238E27FC236}">
                <a16:creationId xmlns:a16="http://schemas.microsoft.com/office/drawing/2014/main" id="{4557C14E-976E-5FD5-8846-E153D0E110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31" y="-10509"/>
            <a:ext cx="2312276" cy="681036"/>
          </a:xfrm>
          <a:prstGeom prst="rect">
            <a:avLst/>
          </a:prstGeom>
        </p:spPr>
      </p:pic>
    </p:spTree>
    <p:extLst>
      <p:ext uri="{BB962C8B-B14F-4D97-AF65-F5344CB8AC3E}">
        <p14:creationId xmlns:p14="http://schemas.microsoft.com/office/powerpoint/2010/main" val="3713593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B3DB3-0B86-198A-99BB-76BFE00CE3F4}"/>
              </a:ext>
            </a:extLst>
          </p:cNvPr>
          <p:cNvSpPr>
            <a:spLocks noGrp="1"/>
          </p:cNvSpPr>
          <p:nvPr>
            <p:ph type="title"/>
          </p:nvPr>
        </p:nvSpPr>
        <p:spPr>
          <a:xfrm>
            <a:off x="838200" y="18255"/>
            <a:ext cx="10515600" cy="833083"/>
          </a:xfrm>
        </p:spPr>
        <p:txBody>
          <a:bodyPr/>
          <a:lstStyle/>
          <a:p>
            <a:pPr algn="ctr"/>
            <a:r>
              <a:rPr lang="en-IN" dirty="0"/>
              <a:t>Application Output</a:t>
            </a:r>
          </a:p>
        </p:txBody>
      </p:sp>
      <p:pic>
        <p:nvPicPr>
          <p:cNvPr id="6" name="Picture 5">
            <a:extLst>
              <a:ext uri="{FF2B5EF4-FFF2-40B4-BE49-F238E27FC236}">
                <a16:creationId xmlns:a16="http://schemas.microsoft.com/office/drawing/2014/main" id="{553015F9-F0FC-1181-7FEE-3A820753D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31" y="-10509"/>
            <a:ext cx="2312276" cy="681036"/>
          </a:xfrm>
          <a:prstGeom prst="rect">
            <a:avLst/>
          </a:prstGeom>
        </p:spPr>
      </p:pic>
      <p:pic>
        <p:nvPicPr>
          <p:cNvPr id="8" name="Content Placeholder 7">
            <a:extLst>
              <a:ext uri="{FF2B5EF4-FFF2-40B4-BE49-F238E27FC236}">
                <a16:creationId xmlns:a16="http://schemas.microsoft.com/office/drawing/2014/main" id="{A419723F-8070-49AA-8683-55C5C94819D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737" y="1008227"/>
            <a:ext cx="11803118" cy="5550228"/>
          </a:xfrm>
        </p:spPr>
      </p:pic>
    </p:spTree>
    <p:extLst>
      <p:ext uri="{BB962C8B-B14F-4D97-AF65-F5344CB8AC3E}">
        <p14:creationId xmlns:p14="http://schemas.microsoft.com/office/powerpoint/2010/main" val="2502302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D723E2-240F-C5AF-A4FC-8EED634D5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516" y="514349"/>
            <a:ext cx="10962968" cy="6166670"/>
          </a:xfrm>
          <a:prstGeom prst="rect">
            <a:avLst/>
          </a:prstGeom>
        </p:spPr>
      </p:pic>
      <p:pic>
        <p:nvPicPr>
          <p:cNvPr id="3" name="Picture 2">
            <a:extLst>
              <a:ext uri="{FF2B5EF4-FFF2-40B4-BE49-F238E27FC236}">
                <a16:creationId xmlns:a16="http://schemas.microsoft.com/office/drawing/2014/main" id="{2046C6AA-8454-7762-4361-8AD71FE93B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26" y="110550"/>
            <a:ext cx="1246356" cy="403799"/>
          </a:xfrm>
          <a:prstGeom prst="rect">
            <a:avLst/>
          </a:prstGeom>
        </p:spPr>
      </p:pic>
    </p:spTree>
    <p:extLst>
      <p:ext uri="{BB962C8B-B14F-4D97-AF65-F5344CB8AC3E}">
        <p14:creationId xmlns:p14="http://schemas.microsoft.com/office/powerpoint/2010/main" val="3968827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1844532" y="234087"/>
            <a:ext cx="9144000" cy="731520"/>
          </a:xfrm>
          <a:prstGeom prst="rect">
            <a:avLst/>
          </a:prstGeom>
          <a:noFill/>
          <a:ln/>
        </p:spPr>
        <p:txBody>
          <a:bodyPr wrap="square" lIns="0" tIns="0" rIns="0" bIns="0" rtlCol="0" anchor="ctr"/>
          <a:lstStyle/>
          <a:p>
            <a:pPr algn="ctr"/>
            <a:r>
              <a:rPr lang="en-US" sz="4533" dirty="0">
                <a:latin typeface="+mj-lt"/>
                <a:ea typeface="Times New Roman" pitchFamily="34" charset="-122"/>
                <a:cs typeface="Times New Roman" pitchFamily="34" charset="-120"/>
              </a:rPr>
              <a:t>Team Member Contributions:</a:t>
            </a:r>
            <a:endParaRPr lang="en-US" sz="4533" dirty="0">
              <a:latin typeface="+mj-lt"/>
            </a:endParaRPr>
          </a:p>
        </p:txBody>
      </p:sp>
      <p:graphicFrame>
        <p:nvGraphicFramePr>
          <p:cNvPr id="4" name="Table 0"/>
          <p:cNvGraphicFramePr>
            <a:graphicFrameLocks noGrp="1"/>
          </p:cNvGraphicFramePr>
          <p:nvPr>
            <p:extLst>
              <p:ext uri="{D42A27DB-BD31-4B8C-83A1-F6EECF244321}">
                <p14:modId xmlns:p14="http://schemas.microsoft.com/office/powerpoint/2010/main" val="4196800224"/>
              </p:ext>
            </p:extLst>
          </p:nvPr>
        </p:nvGraphicFramePr>
        <p:xfrm>
          <a:off x="926592" y="1199694"/>
          <a:ext cx="10472928" cy="5547360"/>
        </p:xfrm>
        <a:graphic>
          <a:graphicData uri="http://schemas.openxmlformats.org/drawingml/2006/table">
            <a:tbl>
              <a:tblPr/>
              <a:tblGrid>
                <a:gridCol w="5236464">
                  <a:extLst>
                    <a:ext uri="{9D8B030D-6E8A-4147-A177-3AD203B41FA5}">
                      <a16:colId xmlns:a16="http://schemas.microsoft.com/office/drawing/2014/main" val="20000"/>
                    </a:ext>
                  </a:extLst>
                </a:gridCol>
                <a:gridCol w="5236464">
                  <a:extLst>
                    <a:ext uri="{9D8B030D-6E8A-4147-A177-3AD203B41FA5}">
                      <a16:colId xmlns:a16="http://schemas.microsoft.com/office/drawing/2014/main" val="20001"/>
                    </a:ext>
                  </a:extLst>
                </a:gridCol>
              </a:tblGrid>
              <a:tr h="528320">
                <a:tc>
                  <a:txBody>
                    <a:bodyPr/>
                    <a:lstStyle/>
                    <a:p>
                      <a:pPr marL="0" indent="0">
                        <a:buNone/>
                      </a:pPr>
                      <a:r>
                        <a:rPr lang="en-US" sz="2700" b="1" dirty="0">
                          <a:solidFill>
                            <a:srgbClr val="FFFFFF"/>
                          </a:solidFill>
                          <a:latin typeface="Times New Roman" pitchFamily="34" charset="0"/>
                          <a:ea typeface="Times New Roman" pitchFamily="34" charset="-122"/>
                          <a:cs typeface="Times New Roman" pitchFamily="34" charset="-120"/>
                        </a:rPr>
                        <a:t>Team Member</a:t>
                      </a:r>
                    </a:p>
                  </a:txBody>
                  <a:tcPr marL="121920" marR="121920" marT="60960" marB="6096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A5F"/>
                    </a:solidFill>
                  </a:tcPr>
                </a:tc>
                <a:tc>
                  <a:txBody>
                    <a:bodyPr/>
                    <a:lstStyle/>
                    <a:p>
                      <a:pPr marL="0" indent="0">
                        <a:buNone/>
                      </a:pPr>
                      <a:r>
                        <a:rPr lang="en-US" sz="2700" b="1" dirty="0">
                          <a:solidFill>
                            <a:srgbClr val="FFFFFF"/>
                          </a:solidFill>
                          <a:latin typeface="Times New Roman" pitchFamily="34" charset="0"/>
                          <a:ea typeface="Times New Roman" pitchFamily="34" charset="-122"/>
                          <a:cs typeface="Times New Roman" pitchFamily="34" charset="-120"/>
                        </a:rPr>
                        <a:t>Contribution</a:t>
                      </a:r>
                      <a:endParaRPr lang="en-US" sz="2700" dirty="0">
                        <a:latin typeface="Times New Roman" charset="0"/>
                        <a:ea typeface="Times New Roman" charset="0"/>
                        <a:cs typeface="Times New Roman" charset="0"/>
                      </a:endParaRPr>
                    </a:p>
                  </a:txBody>
                  <a:tcPr marL="121920" marR="121920" marT="60960" marB="6096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47353">
                <a:tc>
                  <a:txBody>
                    <a:bodyPr/>
                    <a:lstStyle/>
                    <a:p>
                      <a:pPr marL="0" indent="0">
                        <a:buNone/>
                      </a:pPr>
                      <a:r>
                        <a:rPr lang="en-US" sz="2700" dirty="0" err="1">
                          <a:latin typeface="Times New Roman" charset="0"/>
                          <a:ea typeface="Times New Roman" charset="0"/>
                          <a:cs typeface="Times New Roman" charset="0"/>
                        </a:rPr>
                        <a:t>R.P.Chandrasekhar</a:t>
                      </a:r>
                      <a:endParaRPr lang="en-US" sz="2700" dirty="0">
                        <a:latin typeface="Times New Roman" charset="0"/>
                        <a:ea typeface="Times New Roman" charset="0"/>
                        <a:cs typeface="Times New Roman" charset="0"/>
                      </a:endParaRPr>
                    </a:p>
                  </a:txBody>
                  <a:tcPr marL="121920" marR="121920" marT="60960" marB="60960">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2700" dirty="0">
                          <a:solidFill>
                            <a:srgbClr val="222222"/>
                          </a:solidFill>
                          <a:latin typeface="Times New Roman" pitchFamily="34" charset="0"/>
                          <a:ea typeface="Times New Roman" pitchFamily="34" charset="-122"/>
                          <a:cs typeface="Times New Roman" pitchFamily="34" charset="-120"/>
                        </a:rPr>
                        <a:t>Code Implementation</a:t>
                      </a:r>
                    </a:p>
                    <a:p>
                      <a:pPr marL="0" indent="0">
                        <a:buNone/>
                      </a:pPr>
                      <a:r>
                        <a:rPr lang="en-US" sz="2700" dirty="0">
                          <a:latin typeface="Times New Roman" charset="0"/>
                          <a:ea typeface="Times New Roman" charset="0"/>
                          <a:cs typeface="Times New Roman" charset="0"/>
                        </a:rPr>
                        <a:t>Account and ATM classes, login, deposit, withdraw and transfer.</a:t>
                      </a:r>
                    </a:p>
                  </a:txBody>
                  <a:tcPr marL="121920" marR="121920" marT="60960" marB="60960">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34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dirty="0">
                          <a:latin typeface="Times New Roman" charset="0"/>
                          <a:ea typeface="Times New Roman" charset="0"/>
                          <a:cs typeface="Times New Roman" charset="0"/>
                        </a:rPr>
                        <a:t>T. Sanjana</a:t>
                      </a:r>
                    </a:p>
                    <a:p>
                      <a:pPr marL="0" indent="0">
                        <a:buNone/>
                      </a:pPr>
                      <a:endParaRPr lang="en-US" sz="2700" dirty="0">
                        <a:latin typeface="Times New Roman" charset="0"/>
                        <a:ea typeface="Times New Roman" charset="0"/>
                        <a:cs typeface="Times New Roman" charset="0"/>
                      </a:endParaRPr>
                    </a:p>
                  </a:txBody>
                  <a:tcPr marL="121920" marR="121920" marT="60960" marB="60960">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8EDF5"/>
                    </a:solidFill>
                  </a:tcPr>
                </a:tc>
                <a:tc>
                  <a:txBody>
                    <a:bodyPr/>
                    <a:lstStyle/>
                    <a:p>
                      <a:pPr marL="0" indent="0">
                        <a:buNone/>
                      </a:pPr>
                      <a:r>
                        <a:rPr lang="en-US" sz="2700" dirty="0">
                          <a:solidFill>
                            <a:srgbClr val="222222"/>
                          </a:solidFill>
                          <a:latin typeface="Times New Roman" pitchFamily="34" charset="0"/>
                          <a:ea typeface="Times New Roman" pitchFamily="34" charset="-122"/>
                          <a:cs typeface="Times New Roman" pitchFamily="34" charset="-120"/>
                        </a:rPr>
                        <a:t>PPT</a:t>
                      </a:r>
                    </a:p>
                    <a:p>
                      <a:pPr marL="0" indent="0">
                        <a:buNone/>
                      </a:pPr>
                      <a:r>
                        <a:rPr lang="en-US" sz="2700" dirty="0">
                          <a:latin typeface="Times New Roman" charset="0"/>
                          <a:ea typeface="Times New Roman" charset="0"/>
                          <a:cs typeface="Times New Roman" charset="0"/>
                        </a:rPr>
                        <a:t>Review slides and project presentation.</a:t>
                      </a:r>
                    </a:p>
                  </a:txBody>
                  <a:tcPr marL="121920" marR="121920" marT="60960" marB="60960">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8EDF5"/>
                    </a:solidFill>
                  </a:tcPr>
                </a:tc>
                <a:extLst>
                  <a:ext uri="{0D108BD9-81ED-4DB2-BD59-A6C34878D82A}">
                    <a16:rowId xmlns:a16="http://schemas.microsoft.com/office/drawing/2014/main" val="10002"/>
                  </a:ext>
                </a:extLst>
              </a:tr>
              <a:tr h="934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dirty="0">
                          <a:latin typeface="Times New Roman" charset="0"/>
                          <a:ea typeface="Times New Roman" charset="0"/>
                          <a:cs typeface="Times New Roman" charset="0"/>
                        </a:rPr>
                        <a:t>K. Jaswanthi</a:t>
                      </a:r>
                    </a:p>
                    <a:p>
                      <a:pPr marL="0" indent="0">
                        <a:buNone/>
                      </a:pPr>
                      <a:endParaRPr lang="en-US" sz="2700" dirty="0">
                        <a:latin typeface="Times New Roman" charset="0"/>
                        <a:ea typeface="Times New Roman" charset="0"/>
                        <a:cs typeface="Times New Roman" charset="0"/>
                      </a:endParaRPr>
                    </a:p>
                  </a:txBody>
                  <a:tcPr marL="121920" marR="121920" marT="60960" marB="60960">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marL="0" indent="0">
                        <a:buNone/>
                      </a:pPr>
                      <a:r>
                        <a:rPr lang="en-US" sz="2700" dirty="0">
                          <a:solidFill>
                            <a:srgbClr val="222222"/>
                          </a:solidFill>
                          <a:latin typeface="Times New Roman" pitchFamily="34" charset="0"/>
                          <a:ea typeface="Times New Roman" pitchFamily="34" charset="-122"/>
                          <a:cs typeface="Times New Roman" pitchFamily="34" charset="-120"/>
                        </a:rPr>
                        <a:t>Documentation</a:t>
                      </a:r>
                    </a:p>
                    <a:p>
                      <a:pPr marL="0" indent="0">
                        <a:buNone/>
                      </a:pPr>
                      <a:r>
                        <a:rPr lang="en-US" sz="2700" dirty="0">
                          <a:latin typeface="Times New Roman" charset="0"/>
                          <a:ea typeface="Times New Roman" charset="0"/>
                          <a:cs typeface="Times New Roman" charset="0"/>
                        </a:rPr>
                        <a:t>Project report and user guide.</a:t>
                      </a:r>
                    </a:p>
                  </a:txBody>
                  <a:tcPr marL="121920" marR="121920" marT="60960" marB="60960">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34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dirty="0" err="1">
                          <a:solidFill>
                            <a:srgbClr val="222222"/>
                          </a:solidFill>
                          <a:latin typeface="Times New Roman" pitchFamily="34" charset="0"/>
                          <a:cs typeface="Times New Roman" pitchFamily="34" charset="-120"/>
                        </a:rPr>
                        <a:t>P.Haribabu</a:t>
                      </a:r>
                      <a:endParaRPr lang="en-IN" sz="2700" dirty="0"/>
                    </a:p>
                    <a:p>
                      <a:pPr marL="0" indent="0">
                        <a:buNone/>
                      </a:pPr>
                      <a:endParaRPr lang="en-US" sz="2700" dirty="0">
                        <a:latin typeface="Times New Roman" charset="0"/>
                        <a:ea typeface="Times New Roman" charset="0"/>
                        <a:cs typeface="Times New Roman" charset="0"/>
                      </a:endParaRPr>
                    </a:p>
                  </a:txBody>
                  <a:tcPr marL="121920" marR="121920" marT="60960" marB="60960">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8EDF5"/>
                    </a:solidFill>
                  </a:tcPr>
                </a:tc>
                <a:tc>
                  <a:txBody>
                    <a:bodyPr/>
                    <a:lstStyle/>
                    <a:p>
                      <a:pPr marL="0" indent="0">
                        <a:buNone/>
                      </a:pPr>
                      <a:r>
                        <a:rPr lang="en-US" sz="2700" dirty="0">
                          <a:solidFill>
                            <a:srgbClr val="222222"/>
                          </a:solidFill>
                          <a:latin typeface="Times New Roman" pitchFamily="34" charset="0"/>
                          <a:ea typeface="Times New Roman" pitchFamily="34" charset="-122"/>
                          <a:cs typeface="Times New Roman" pitchFamily="34" charset="-120"/>
                        </a:rPr>
                        <a:t>GUI Implementation &amp; Testing</a:t>
                      </a:r>
                    </a:p>
                    <a:p>
                      <a:pPr marL="0" indent="0">
                        <a:buNone/>
                      </a:pPr>
                      <a:r>
                        <a:rPr lang="en-US" sz="2700" dirty="0">
                          <a:latin typeface="Times New Roman" charset="0"/>
                          <a:ea typeface="Times New Roman" charset="0"/>
                          <a:cs typeface="Times New Roman" charset="0"/>
                        </a:rPr>
                        <a:t>Interface design and test cases for every module.</a:t>
                      </a:r>
                    </a:p>
                  </a:txBody>
                  <a:tcPr marL="121920" marR="121920" marT="60960" marB="60960">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8EDF5"/>
                    </a:solidFill>
                  </a:tcPr>
                </a:tc>
                <a:extLst>
                  <a:ext uri="{0D108BD9-81ED-4DB2-BD59-A6C34878D82A}">
                    <a16:rowId xmlns:a16="http://schemas.microsoft.com/office/drawing/2014/main" val="10004"/>
                  </a:ext>
                </a:extLst>
              </a:tr>
            </a:tbl>
          </a:graphicData>
        </a:graphic>
      </p:graphicFrame>
      <p:pic>
        <p:nvPicPr>
          <p:cNvPr id="6" name="Picture 5">
            <a:extLst>
              <a:ext uri="{FF2B5EF4-FFF2-40B4-BE49-F238E27FC236}">
                <a16:creationId xmlns:a16="http://schemas.microsoft.com/office/drawing/2014/main" id="{367CD882-9DC5-C39F-6644-9155FE5D6A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155" y="50484"/>
            <a:ext cx="2102069" cy="68103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AE54-BF96-82C4-B1F9-95067F8B7014}"/>
              </a:ext>
            </a:extLst>
          </p:cNvPr>
          <p:cNvSpPr>
            <a:spLocks noGrp="1"/>
          </p:cNvSpPr>
          <p:nvPr>
            <p:ph type="title"/>
          </p:nvPr>
        </p:nvSpPr>
        <p:spPr>
          <a:xfrm>
            <a:off x="838200" y="472965"/>
            <a:ext cx="10515600" cy="1145627"/>
          </a:xfrm>
        </p:spPr>
        <p:txBody>
          <a:bodyPr/>
          <a:lstStyle/>
          <a:p>
            <a:pPr algn="ctr"/>
            <a:r>
              <a:rPr lang="en-IN" dirty="0"/>
              <a:t>Conclusion</a:t>
            </a:r>
          </a:p>
        </p:txBody>
      </p:sp>
      <p:sp>
        <p:nvSpPr>
          <p:cNvPr id="4" name="Rectangle 1">
            <a:extLst>
              <a:ext uri="{FF2B5EF4-FFF2-40B4-BE49-F238E27FC236}">
                <a16:creationId xmlns:a16="http://schemas.microsoft.com/office/drawing/2014/main" id="{D0C952BB-4684-08DB-E685-FE5BBCD8BF88}"/>
              </a:ext>
            </a:extLst>
          </p:cNvPr>
          <p:cNvSpPr>
            <a:spLocks noGrp="1" noChangeArrowheads="1"/>
          </p:cNvSpPr>
          <p:nvPr>
            <p:ph idx="1"/>
          </p:nvPr>
        </p:nvSpPr>
        <p:spPr bwMode="auto">
          <a:xfrm>
            <a:off x="838200" y="1372700"/>
            <a:ext cx="10092558"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Restaurant Management System shows how the basic restaurant operations work in C++: Order ID customer login, order total check, add item, remove item, and order history.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Object-oriented concepts (classes, encapsulation) keep the code </a:t>
            </a:r>
            <a:r>
              <a:rPr kumimoji="0" lang="en-US" altLang="en-US" sz="2400" b="0" i="0" u="none" strike="noStrike" cap="none" normalizeH="0" baseline="0" dirty="0" err="1">
                <a:ln>
                  <a:noFill/>
                </a:ln>
                <a:solidFill>
                  <a:schemeClr val="tx1"/>
                </a:solidFill>
                <a:effectLst/>
                <a:latin typeface="Arial" panose="020B0604020202020204" pitchFamily="34" charset="0"/>
              </a:rPr>
              <a:t>organised</a:t>
            </a:r>
            <a:r>
              <a:rPr kumimoji="0" lang="en-US" altLang="en-US" sz="2400" b="0" i="0" u="none" strike="noStrike" cap="none" normalizeH="0" baseline="0" dirty="0">
                <a:ln>
                  <a:noFill/>
                </a:ln>
                <a:solidFill>
                  <a:schemeClr val="tx1"/>
                </a:solidFill>
                <a:effectLst/>
                <a:latin typeface="Arial" panose="020B0604020202020204" pitchFamily="34" charset="0"/>
              </a:rPr>
              <a:t> and easy to maintain.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 </a:t>
            </a:r>
            <a:r>
              <a:rPr kumimoji="0" lang="en-US" altLang="en-US" sz="2400" b="0" i="0" u="none" strike="noStrike" cap="none" normalizeH="0" baseline="0" dirty="0">
                <a:ln>
                  <a:noFill/>
                </a:ln>
                <a:solidFill>
                  <a:schemeClr val="tx1"/>
                </a:solidFill>
                <a:effectLst/>
                <a:latin typeface="Arial Unicode MS"/>
              </a:rPr>
              <a:t>Order</a:t>
            </a:r>
            <a:r>
              <a:rPr kumimoji="0" lang="en-US" altLang="en-US" sz="2400" b="0" i="0" u="none" strike="noStrike" cap="none" normalizeH="0" baseline="0" dirty="0">
                <a:ln>
                  <a:noFill/>
                </a:ln>
                <a:solidFill>
                  <a:schemeClr val="tx1"/>
                </a:solidFill>
                <a:effectLst/>
              </a:rPr>
              <a:t> structure and an STL </a:t>
            </a:r>
            <a:r>
              <a:rPr kumimoji="0" lang="en-US" altLang="en-US" sz="2400" b="0" i="0" u="none" strike="noStrike" cap="none" normalizeH="0" baseline="0" dirty="0">
                <a:ln>
                  <a:noFill/>
                </a:ln>
                <a:solidFill>
                  <a:schemeClr val="tx1"/>
                </a:solidFill>
                <a:effectLst/>
                <a:latin typeface="Arial Unicode MS"/>
              </a:rPr>
              <a:t>vector</a:t>
            </a:r>
            <a:r>
              <a:rPr kumimoji="0" lang="en-US" altLang="en-US" sz="2400" b="0" i="0" u="none" strike="noStrike" cap="none" normalizeH="0" baseline="0" dirty="0">
                <a:ln>
                  <a:noFill/>
                </a:ln>
                <a:solidFill>
                  <a:schemeClr val="tx1"/>
                </a:solidFill>
                <a:effectLst/>
              </a:rPr>
              <a:t> store every order dynamically, so the history can be viewed at any time.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Input checks handle errors such as a wrong Order ID or insufficient order total.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project gave us practical experience with C++, STL, and teamwork, and it can later be extended with file or database storage, multiple customers, and stronger security. </a:t>
            </a:r>
          </a:p>
        </p:txBody>
      </p:sp>
      <p:pic>
        <p:nvPicPr>
          <p:cNvPr id="5" name="Picture 4">
            <a:extLst>
              <a:ext uri="{FF2B5EF4-FFF2-40B4-BE49-F238E27FC236}">
                <a16:creationId xmlns:a16="http://schemas.microsoft.com/office/drawing/2014/main" id="{0399B04D-4E8A-E44D-EF90-A41FDAA7C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525" y="132447"/>
            <a:ext cx="2102069" cy="681036"/>
          </a:xfrm>
          <a:prstGeom prst="rect">
            <a:avLst/>
          </a:prstGeom>
        </p:spPr>
      </p:pic>
    </p:spTree>
    <p:extLst>
      <p:ext uri="{BB962C8B-B14F-4D97-AF65-F5344CB8AC3E}">
        <p14:creationId xmlns:p14="http://schemas.microsoft.com/office/powerpoint/2010/main" val="3173039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91657-4991-FCCF-4B39-D232E53EB7DB}"/>
              </a:ext>
            </a:extLst>
          </p:cNvPr>
          <p:cNvSpPr>
            <a:spLocks noGrp="1"/>
          </p:cNvSpPr>
          <p:nvPr>
            <p:ph type="title"/>
          </p:nvPr>
        </p:nvSpPr>
        <p:spPr>
          <a:xfrm>
            <a:off x="629265" y="365125"/>
            <a:ext cx="10724535" cy="5190101"/>
          </a:xfrm>
        </p:spPr>
        <p:txBody>
          <a:bodyPr/>
          <a:lstStyle/>
          <a:p>
            <a:pPr algn="ctr"/>
            <a:r>
              <a:rPr lang="en-US" dirty="0">
                <a:solidFill>
                  <a:srgbClr val="002060"/>
                </a:solidFill>
                <a:latin typeface="Algerian" panose="04020705040A02060702" pitchFamily="82" charset="0"/>
              </a:rPr>
              <a:t>THANK YOU</a:t>
            </a:r>
            <a:endParaRPr lang="en-IN" dirty="0">
              <a:solidFill>
                <a:srgbClr val="002060"/>
              </a:solidFill>
              <a:latin typeface="Algerian" panose="04020705040A02060702" pitchFamily="82" charset="0"/>
            </a:endParaRPr>
          </a:p>
        </p:txBody>
      </p:sp>
      <p:pic>
        <p:nvPicPr>
          <p:cNvPr id="5" name="Picture 4">
            <a:extLst>
              <a:ext uri="{FF2B5EF4-FFF2-40B4-BE49-F238E27FC236}">
                <a16:creationId xmlns:a16="http://schemas.microsoft.com/office/drawing/2014/main" id="{753DAE37-7237-89FD-8D13-C06D0BA736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525" y="117311"/>
            <a:ext cx="2102069" cy="681036"/>
          </a:xfrm>
          <a:prstGeom prst="rect">
            <a:avLst/>
          </a:prstGeom>
        </p:spPr>
      </p:pic>
    </p:spTree>
    <p:extLst>
      <p:ext uri="{BB962C8B-B14F-4D97-AF65-F5344CB8AC3E}">
        <p14:creationId xmlns:p14="http://schemas.microsoft.com/office/powerpoint/2010/main" val="589366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517</TotalTime>
  <Words>1660</Words>
  <Application>Microsoft Office PowerPoint</Application>
  <PresentationFormat>Widescreen</PresentationFormat>
  <Paragraphs>293</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Algerian</vt:lpstr>
      <vt:lpstr>Aptos</vt:lpstr>
      <vt:lpstr>Aptos Display</vt:lpstr>
      <vt:lpstr>Arial</vt:lpstr>
      <vt:lpstr>Arial Unicode MS</vt:lpstr>
      <vt:lpstr>Times New Roman</vt:lpstr>
      <vt:lpstr>Wingdings</vt:lpstr>
      <vt:lpstr>Office Theme</vt:lpstr>
      <vt:lpstr>Project Title: RESTAURANT MANAGEMENT SYSTEM USING C++</vt:lpstr>
      <vt:lpstr>Outline:</vt:lpstr>
      <vt:lpstr>PowerPoint Presentation</vt:lpstr>
      <vt:lpstr>ABSTRACT:</vt:lpstr>
      <vt:lpstr>INTRODUCTION:</vt:lpstr>
      <vt:lpstr>PROBLEM STATEMENT:</vt:lpstr>
      <vt:lpstr>Objectives:</vt:lpstr>
      <vt:lpstr>PowerPoint Presentation</vt:lpstr>
      <vt:lpstr>Inputs:</vt:lpstr>
      <vt:lpstr>Expected Outputs:</vt:lpstr>
      <vt:lpstr>Algorithm:</vt:lpstr>
      <vt:lpstr>FLOWCHART:</vt:lpstr>
      <vt:lpstr>C++ Concepts and STL Used</vt:lpstr>
      <vt:lpstr>Order Structure and STL Vector</vt:lpstr>
      <vt:lpstr>Core  Function: Calculate Totals()</vt:lpstr>
      <vt:lpstr>File Handling : CSV Storage</vt:lpstr>
      <vt:lpstr>Input Validation</vt:lpstr>
      <vt:lpstr>GUI and Event-Driven Programming</vt:lpstr>
      <vt:lpstr>Testing and Validation</vt:lpstr>
      <vt:lpstr>Application Output</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ATM SIMULATOR USING C++</dc:title>
  <dc:creator>Mahathi Vedantam</dc:creator>
  <cp:lastModifiedBy>sanjana tellamekala</cp:lastModifiedBy>
  <cp:revision>9</cp:revision>
  <dcterms:created xsi:type="dcterms:W3CDTF">2026-08-12T09:35:43Z</dcterms:created>
  <dcterms:modified xsi:type="dcterms:W3CDTF">2026-09-28T14:37:17Z</dcterms:modified>
</cp:coreProperties>
</file>