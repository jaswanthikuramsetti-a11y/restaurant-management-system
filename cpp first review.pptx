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148840" y="384048"/>
            <a:ext cx="7909560" cy="1048017"/>
          </a:xfrm>
          <a:prstGeom prst="rect">
            <a:avLst/>
          </a:prstGeom>
        </p:spPr>
      </p:pic>
      <p:sp>
        <p:nvSpPr>
          <p:cNvPr id="3" name="TextBox 2"/>
          <p:cNvSpPr txBox="1"/>
          <p:nvPr/>
        </p:nvSpPr>
        <p:spPr>
          <a:xfrm>
            <a:off x="1417320" y="1874519"/>
            <a:ext cx="9372600" cy="594360"/>
          </a:xfrm>
          <a:prstGeom prst="rect">
            <a:avLst/>
          </a:prstGeom>
          <a:noFill/>
        </p:spPr>
        <p:txBody>
          <a:bodyPr wrap="square" lIns="18288" tIns="18288" rIns="18288" bIns="18288" anchor="t">
            <a:spAutoFit/>
          </a:bodyPr>
          <a:lstStyle/>
          <a:p>
            <a:pPr algn="ctr"/>
            <a:r>
              <a:rPr sz="3100" b="0">
                <a:solidFill>
                  <a:srgbClr val="0000FF"/>
                </a:solidFill>
                <a:latin typeface="Times New Roman" panose="02020603050405020304"/>
              </a:rPr>
              <a:t>RESTAURANT MANAGEMENT SYSTEM</a:t>
            </a:r>
          </a:p>
        </p:txBody>
      </p:sp>
      <p:sp>
        <p:nvSpPr>
          <p:cNvPr id="4" name="TextBox 3"/>
          <p:cNvSpPr txBox="1"/>
          <p:nvPr/>
        </p:nvSpPr>
        <p:spPr>
          <a:xfrm>
            <a:off x="1965960" y="2542032"/>
            <a:ext cx="8229600" cy="320040"/>
          </a:xfrm>
          <a:prstGeom prst="rect">
            <a:avLst/>
          </a:prstGeom>
          <a:noFill/>
        </p:spPr>
        <p:txBody>
          <a:bodyPr wrap="square" lIns="18288" tIns="18288" rIns="18288" bIns="18288" anchor="t">
            <a:spAutoFit/>
          </a:bodyPr>
          <a:lstStyle/>
          <a:p>
            <a:pPr algn="ctr"/>
            <a:r>
              <a:rPr sz="1700" b="0">
                <a:solidFill>
                  <a:srgbClr val="0000FF"/>
                </a:solidFill>
                <a:latin typeface="Times New Roman" panose="02020603050405020304"/>
              </a:rPr>
              <a:t>C++ Object-Oriented Programming Project — REVIEW 1</a:t>
            </a:r>
          </a:p>
        </p:txBody>
      </p:sp>
      <p:sp>
        <p:nvSpPr>
          <p:cNvPr id="5" name="TextBox 4"/>
          <p:cNvSpPr txBox="1"/>
          <p:nvPr/>
        </p:nvSpPr>
        <p:spPr>
          <a:xfrm>
            <a:off x="868680" y="3456432"/>
            <a:ext cx="2194560" cy="274320"/>
          </a:xfrm>
          <a:prstGeom prst="rect">
            <a:avLst/>
          </a:prstGeom>
          <a:noFill/>
        </p:spPr>
        <p:txBody>
          <a:bodyPr wrap="square" lIns="18288" tIns="18288" rIns="18288" bIns="18288" anchor="t">
            <a:spAutoFit/>
          </a:bodyPr>
          <a:lstStyle/>
          <a:p>
            <a:pPr algn="l"/>
            <a:r>
              <a:rPr sz="2000" b="0">
                <a:solidFill>
                  <a:srgbClr val="FF0000"/>
                </a:solidFill>
                <a:latin typeface="Times New Roman" panose="02020603050405020304"/>
              </a:rPr>
              <a:t>Course Instructor:</a:t>
            </a:r>
          </a:p>
        </p:txBody>
      </p:sp>
      <p:sp>
        <p:nvSpPr>
          <p:cNvPr id="6" name="TextBox 5"/>
          <p:cNvSpPr txBox="1"/>
          <p:nvPr/>
        </p:nvSpPr>
        <p:spPr>
          <a:xfrm>
            <a:off x="868680" y="3822191"/>
            <a:ext cx="4023360" cy="256032"/>
          </a:xfrm>
          <a:prstGeom prst="rect">
            <a:avLst/>
          </a:prstGeom>
          <a:noFill/>
        </p:spPr>
        <p:txBody>
          <a:bodyPr wrap="square" lIns="18288" tIns="18288" rIns="18288" bIns="18288" anchor="t">
            <a:spAutoFit/>
          </a:bodyPr>
          <a:lstStyle/>
          <a:p>
            <a:pPr algn="l"/>
            <a:r>
              <a:rPr sz="1550" b="0">
                <a:solidFill>
                  <a:srgbClr val="0000FF"/>
                </a:solidFill>
                <a:latin typeface="Times New Roman" panose="02020603050405020304"/>
              </a:rPr>
              <a:t>N.AKHILA, M.Tech (Ph.D)</a:t>
            </a:r>
          </a:p>
        </p:txBody>
      </p:sp>
      <p:sp>
        <p:nvSpPr>
          <p:cNvPr id="7" name="TextBox 6"/>
          <p:cNvSpPr txBox="1"/>
          <p:nvPr/>
        </p:nvSpPr>
        <p:spPr>
          <a:xfrm>
            <a:off x="868680" y="4133087"/>
            <a:ext cx="3657600" cy="256032"/>
          </a:xfrm>
          <a:prstGeom prst="rect">
            <a:avLst/>
          </a:prstGeom>
          <a:noFill/>
        </p:spPr>
        <p:txBody>
          <a:bodyPr wrap="square" lIns="18288" tIns="18288" rIns="18288" bIns="18288" anchor="t">
            <a:spAutoFit/>
          </a:bodyPr>
          <a:lstStyle/>
          <a:p>
            <a:pPr algn="l"/>
            <a:r>
              <a:rPr sz="1550" b="0">
                <a:solidFill>
                  <a:srgbClr val="0000FF"/>
                </a:solidFill>
                <a:latin typeface="Times New Roman" panose="02020603050405020304"/>
              </a:rPr>
              <a:t>ASSISTANT PROFESSOR</a:t>
            </a:r>
          </a:p>
        </p:txBody>
      </p:sp>
      <p:sp>
        <p:nvSpPr>
          <p:cNvPr id="8" name="TextBox 7"/>
          <p:cNvSpPr txBox="1"/>
          <p:nvPr/>
        </p:nvSpPr>
        <p:spPr>
          <a:xfrm>
            <a:off x="868680" y="4443984"/>
            <a:ext cx="3657600" cy="256032"/>
          </a:xfrm>
          <a:prstGeom prst="rect">
            <a:avLst/>
          </a:prstGeom>
          <a:noFill/>
        </p:spPr>
        <p:txBody>
          <a:bodyPr wrap="square" lIns="18288" tIns="18288" rIns="18288" bIns="18288" anchor="t">
            <a:spAutoFit/>
          </a:bodyPr>
          <a:lstStyle/>
          <a:p>
            <a:pPr algn="l"/>
            <a:r>
              <a:rPr sz="1550" b="0">
                <a:solidFill>
                  <a:srgbClr val="0000FF"/>
                </a:solidFill>
                <a:latin typeface="Times New Roman" panose="02020603050405020304"/>
              </a:rPr>
              <a:t>AIML DEPTARTMENT</a:t>
            </a:r>
          </a:p>
        </p:txBody>
      </p:sp>
      <p:sp>
        <p:nvSpPr>
          <p:cNvPr id="9" name="TextBox 8"/>
          <p:cNvSpPr txBox="1"/>
          <p:nvPr/>
        </p:nvSpPr>
        <p:spPr>
          <a:xfrm>
            <a:off x="6263640" y="3456432"/>
            <a:ext cx="2194560" cy="320040"/>
          </a:xfrm>
          <a:prstGeom prst="rect">
            <a:avLst/>
          </a:prstGeom>
          <a:noFill/>
        </p:spPr>
        <p:txBody>
          <a:bodyPr wrap="square" lIns="18288" tIns="18288" rIns="18288" bIns="18288" anchor="t">
            <a:spAutoFit/>
          </a:bodyPr>
          <a:lstStyle/>
          <a:p>
            <a:pPr algn="l"/>
            <a:r>
              <a:rPr sz="2000" b="0">
                <a:solidFill>
                  <a:srgbClr val="FF0000"/>
                </a:solidFill>
                <a:latin typeface="Times New Roman" panose="02020603050405020304"/>
              </a:rPr>
              <a:t>Presented by:</a:t>
            </a:r>
          </a:p>
        </p:txBody>
      </p:sp>
      <p:sp>
        <p:nvSpPr>
          <p:cNvPr id="10" name="TextBox 9"/>
          <p:cNvSpPr txBox="1"/>
          <p:nvPr/>
        </p:nvSpPr>
        <p:spPr>
          <a:xfrm>
            <a:off x="6236208" y="3840480"/>
            <a:ext cx="4892040" cy="1417320"/>
          </a:xfrm>
          <a:prstGeom prst="rect">
            <a:avLst/>
          </a:prstGeom>
          <a:noFill/>
        </p:spPr>
        <p:txBody>
          <a:bodyPr wrap="square" lIns="18288" rIns="18288">
            <a:spAutoFit/>
          </a:bodyPr>
          <a:lstStyle/>
          <a:p>
            <a:pPr>
              <a:spcAft>
                <a:spcPts val="500"/>
              </a:spcAft>
              <a:defRPr sz="1300">
                <a:solidFill>
                  <a:srgbClr val="0000FF"/>
                </a:solidFill>
                <a:latin typeface="Times New Roman" panose="02020603050405020304"/>
              </a:defRPr>
            </a:pPr>
            <a:r>
              <a:t>➢  25B11AI619    K. Jaswanthi</a:t>
            </a:r>
          </a:p>
          <a:p>
            <a:pPr>
              <a:spcAft>
                <a:spcPts val="500"/>
              </a:spcAft>
              <a:defRPr sz="1300">
                <a:solidFill>
                  <a:srgbClr val="0000FF"/>
                </a:solidFill>
                <a:latin typeface="Times New Roman" panose="02020603050405020304"/>
              </a:defRPr>
            </a:pPr>
            <a:r>
              <a:t>➢  25B11AIB85    T. Sanjana</a:t>
            </a:r>
          </a:p>
          <a:p>
            <a:pPr>
              <a:spcAft>
                <a:spcPts val="500"/>
              </a:spcAft>
              <a:defRPr sz="1300">
                <a:solidFill>
                  <a:srgbClr val="0000FF"/>
                </a:solidFill>
                <a:latin typeface="Times New Roman" panose="02020603050405020304"/>
              </a:defRPr>
            </a:pPr>
            <a:r>
              <a:t>➢  25B11AIA43    R. P. Chandrasekhar</a:t>
            </a:r>
          </a:p>
          <a:p>
            <a:pPr>
              <a:spcAft>
                <a:spcPts val="500"/>
              </a:spcAft>
              <a:defRPr sz="1300">
                <a:solidFill>
                  <a:srgbClr val="0000FF"/>
                </a:solidFill>
                <a:latin typeface="Times New Roman" panose="02020603050405020304"/>
              </a:defRPr>
            </a:pPr>
            <a:r>
              <a:t>➢  25B11AI935    P. Hari Babu</a:t>
            </a:r>
          </a:p>
        </p:txBody>
      </p:sp>
      <p:sp>
        <p:nvSpPr>
          <p:cNvPr id="13" name="TextBox 12"/>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a:t>
            </a:r>
          </a:p>
        </p:txBody>
      </p:sp>
      <p:sp>
        <p:nvSpPr>
          <p:cNvPr id="14" name="TextBox 13"/>
          <p:cNvSpPr txBox="1"/>
          <p:nvPr/>
        </p:nvSpPr>
        <p:spPr>
          <a:xfrm>
            <a:off x="685800" y="6565392"/>
            <a:ext cx="1600200" cy="164592"/>
          </a:xfrm>
          <a:prstGeom prst="rect">
            <a:avLst/>
          </a:prstGeom>
          <a:noFill/>
        </p:spPr>
        <p:txBody>
          <a:bodyPr wrap="square" lIns="18288" tIns="18288" rIns="18288" bIns="18288" anchor="t">
            <a:spAutoFit/>
          </a:bodyPr>
          <a:lstStyle/>
          <a:p>
            <a:pPr algn="l"/>
            <a:r>
              <a:rPr sz="750" b="1">
                <a:solidFill>
                  <a:srgbClr val="808080"/>
                </a:solidFill>
                <a:latin typeface="Times New Roman" panose="02020603050405020304"/>
              </a:rPr>
              <a:t>BATCH 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3703320" y="502920"/>
            <a:ext cx="4846320" cy="45720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Contents</a:t>
            </a:r>
          </a:p>
        </p:txBody>
      </p:sp>
      <p:sp>
        <p:nvSpPr>
          <p:cNvPr id="4" name="TextBox 3"/>
          <p:cNvSpPr txBox="1"/>
          <p:nvPr/>
        </p:nvSpPr>
        <p:spPr>
          <a:xfrm>
            <a:off x="1874519" y="1417320"/>
            <a:ext cx="8595360" cy="4480560"/>
          </a:xfrm>
          <a:prstGeom prst="rect">
            <a:avLst/>
          </a:prstGeom>
          <a:noFill/>
        </p:spPr>
        <p:txBody>
          <a:bodyPr wrap="square" lIns="18288" rIns="18288">
            <a:spAutoFit/>
          </a:bodyPr>
          <a:lstStyle/>
          <a:p>
            <a:pPr>
              <a:spcAft>
                <a:spcPts val="1000"/>
              </a:spcAft>
              <a:defRPr sz="1700">
                <a:solidFill>
                  <a:srgbClr val="000000"/>
                </a:solidFill>
                <a:latin typeface="Times New Roman" panose="02020603050405020304"/>
              </a:defRPr>
            </a:pPr>
            <a:r>
              <a:t>➢  Abstract</a:t>
            </a:r>
          </a:p>
          <a:p>
            <a:pPr>
              <a:spcAft>
                <a:spcPts val="1000"/>
              </a:spcAft>
              <a:defRPr sz="1700">
                <a:solidFill>
                  <a:srgbClr val="000000"/>
                </a:solidFill>
                <a:latin typeface="Times New Roman" panose="02020603050405020304"/>
              </a:defRPr>
            </a:pPr>
            <a:r>
              <a:t>➢  Introduction</a:t>
            </a:r>
          </a:p>
          <a:p>
            <a:pPr>
              <a:spcAft>
                <a:spcPts val="1000"/>
              </a:spcAft>
              <a:defRPr sz="1700">
                <a:solidFill>
                  <a:srgbClr val="000000"/>
                </a:solidFill>
                <a:latin typeface="Times New Roman" panose="02020603050405020304"/>
              </a:defRPr>
            </a:pPr>
            <a:r>
              <a:t>➢  Problem Statement</a:t>
            </a:r>
          </a:p>
          <a:p>
            <a:pPr>
              <a:spcAft>
                <a:spcPts val="1000"/>
              </a:spcAft>
              <a:defRPr sz="1700">
                <a:solidFill>
                  <a:srgbClr val="000000"/>
                </a:solidFill>
                <a:latin typeface="Times New Roman" panose="02020603050405020304"/>
              </a:defRPr>
            </a:pPr>
            <a:r>
              <a:t>➢  Objectives of Project</a:t>
            </a:r>
          </a:p>
          <a:p>
            <a:pPr>
              <a:spcAft>
                <a:spcPts val="1000"/>
              </a:spcAft>
              <a:defRPr sz="1700">
                <a:solidFill>
                  <a:srgbClr val="000000"/>
                </a:solidFill>
                <a:latin typeface="Times New Roman" panose="02020603050405020304"/>
              </a:defRPr>
            </a:pPr>
            <a:r>
              <a:t>➢  Users of the system</a:t>
            </a:r>
          </a:p>
          <a:p>
            <a:pPr>
              <a:spcAft>
                <a:spcPts val="1000"/>
              </a:spcAft>
              <a:defRPr sz="1700">
                <a:solidFill>
                  <a:srgbClr val="000000"/>
                </a:solidFill>
                <a:latin typeface="Times New Roman" panose="02020603050405020304"/>
              </a:defRPr>
            </a:pPr>
            <a:r>
              <a:t>➢  Modules/Functionalities</a:t>
            </a:r>
          </a:p>
          <a:p>
            <a:pPr>
              <a:spcAft>
                <a:spcPts val="1000"/>
              </a:spcAft>
              <a:defRPr sz="1700">
                <a:solidFill>
                  <a:srgbClr val="000000"/>
                </a:solidFill>
                <a:latin typeface="Times New Roman" panose="02020603050405020304"/>
              </a:defRPr>
            </a:pPr>
            <a:r>
              <a:t>➢  Architecture Diagram</a:t>
            </a:r>
          </a:p>
          <a:p>
            <a:pPr>
              <a:spcAft>
                <a:spcPts val="1000"/>
              </a:spcAft>
              <a:defRPr sz="1700">
                <a:solidFill>
                  <a:srgbClr val="000000"/>
                </a:solidFill>
                <a:latin typeface="Times New Roman" panose="02020603050405020304"/>
              </a:defRPr>
            </a:pPr>
            <a:r>
              <a:t>➢  ER Diagram / DFD</a:t>
            </a:r>
          </a:p>
          <a:p>
            <a:pPr>
              <a:spcAft>
                <a:spcPts val="1000"/>
              </a:spcAft>
              <a:defRPr sz="1700">
                <a:solidFill>
                  <a:srgbClr val="000000"/>
                </a:solidFill>
                <a:latin typeface="Times New Roman" panose="02020603050405020304"/>
              </a:defRPr>
            </a:pPr>
            <a:r>
              <a:t>➢  Planning and Timeline Diagram</a:t>
            </a:r>
          </a:p>
          <a:p>
            <a:pPr>
              <a:spcAft>
                <a:spcPts val="1000"/>
              </a:spcAft>
              <a:defRPr sz="1700">
                <a:solidFill>
                  <a:srgbClr val="000000"/>
                </a:solidFill>
                <a:latin typeface="Times New Roman" panose="02020603050405020304"/>
              </a:defRPr>
            </a:pPr>
            <a:r>
              <a:t>➢  Role of each individual</a:t>
            </a:r>
          </a:p>
        </p:txBody>
      </p:sp>
      <p:sp>
        <p:nvSpPr>
          <p:cNvPr id="7" name="TextBox 6"/>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2</a:t>
            </a:r>
          </a:p>
        </p:txBody>
      </p:sp>
      <p:sp>
        <p:nvSpPr>
          <p:cNvPr id="8" name="TextBox 7"/>
          <p:cNvSpPr txBox="1"/>
          <p:nvPr/>
        </p:nvSpPr>
        <p:spPr>
          <a:xfrm>
            <a:off x="685800" y="6565392"/>
            <a:ext cx="1600200" cy="164592"/>
          </a:xfrm>
          <a:prstGeom prst="rect">
            <a:avLst/>
          </a:prstGeom>
          <a:noFill/>
        </p:spPr>
        <p:txBody>
          <a:bodyPr wrap="square" lIns="18288" tIns="18288" rIns="18288" bIns="18288" anchor="t">
            <a:spAutoFit/>
          </a:bodyPr>
          <a:lstStyle/>
          <a:p>
            <a:pPr algn="l"/>
            <a:r>
              <a:rPr sz="750" b="1">
                <a:solidFill>
                  <a:srgbClr val="808080"/>
                </a:solidFill>
                <a:latin typeface="Times New Roman" panose="02020603050405020304"/>
              </a:rPr>
              <a:t>BATCH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a:extLst>
              <a:ext uri="{FF2B5EF4-FFF2-40B4-BE49-F238E27FC236}">
                <a16:creationId xmlns:a16="http://schemas.microsoft.com/office/drawing/2014/main" id="{4D32A505-EE04-4A68-CAE3-CD842A8B3BD2}"/>
              </a:ext>
            </a:extLst>
          </p:cNvPr>
          <p:cNvPicPr>
            <a:picLocks noChangeAspect="1"/>
          </p:cNvPicPr>
          <p:nvPr/>
        </p:nvPicPr>
        <p:blipFill>
          <a:blip r:embed="rId2"/>
          <a:stretch>
            <a:fillRect/>
          </a:stretch>
        </p:blipFill>
        <p:spPr>
          <a:xfrm>
            <a:off x="320040" y="228600"/>
            <a:ext cx="2148840" cy="284721"/>
          </a:xfrm>
          <a:prstGeom prst="rect">
            <a:avLst/>
          </a:prstGeom>
        </p:spPr>
      </p:pic>
      <p:sp>
        <p:nvSpPr>
          <p:cNvPr id="5" name="TextBox 4">
            <a:extLst>
              <a:ext uri="{FF2B5EF4-FFF2-40B4-BE49-F238E27FC236}">
                <a16:creationId xmlns:a16="http://schemas.microsoft.com/office/drawing/2014/main" id="{D520A0D0-6140-C631-4563-E90FBB64AB51}"/>
              </a:ext>
            </a:extLst>
          </p:cNvPr>
          <p:cNvSpPr txBox="1"/>
          <p:nvPr/>
        </p:nvSpPr>
        <p:spPr>
          <a:xfrm>
            <a:off x="1837189" y="1627464"/>
            <a:ext cx="9211112" cy="1200329"/>
          </a:xfrm>
          <a:prstGeom prst="rect">
            <a:avLst/>
          </a:prstGeom>
          <a:noFill/>
        </p:spPr>
        <p:txBody>
          <a:bodyPr wrap="square" rtlCol="0">
            <a:spAutoFit/>
          </a:bodyPr>
          <a:lstStyle/>
          <a:p>
            <a:r>
              <a:rPr lang="en-US" dirty="0"/>
              <a:t>The Restaurant Management System is a C++ based application designed to automate and simplify restaurant operations. It helps manage customers, menus, orders, billing, and payments in an organized way. The system reduces manual work and human errors by using Object-Oriented Programming concepts.</a:t>
            </a:r>
            <a:endParaRPr lang="en-IN" dirty="0"/>
          </a:p>
        </p:txBody>
      </p:sp>
      <p:sp>
        <p:nvSpPr>
          <p:cNvPr id="7" name="TextBox 6">
            <a:extLst>
              <a:ext uri="{FF2B5EF4-FFF2-40B4-BE49-F238E27FC236}">
                <a16:creationId xmlns:a16="http://schemas.microsoft.com/office/drawing/2014/main" id="{1AA0A1E5-3A82-CA15-626F-AD42F571689B}"/>
              </a:ext>
            </a:extLst>
          </p:cNvPr>
          <p:cNvSpPr txBox="1"/>
          <p:nvPr/>
        </p:nvSpPr>
        <p:spPr>
          <a:xfrm>
            <a:off x="4777994" y="701061"/>
            <a:ext cx="1664751" cy="369332"/>
          </a:xfrm>
          <a:prstGeom prst="rect">
            <a:avLst/>
          </a:prstGeom>
          <a:noFill/>
        </p:spPr>
        <p:txBody>
          <a:bodyPr wrap="none" rtlCol="0">
            <a:spAutoFit/>
          </a:bodyPr>
          <a:lstStyle/>
          <a:p>
            <a:r>
              <a:rPr lang="en-IN" dirty="0">
                <a:solidFill>
                  <a:schemeClr val="accent1"/>
                </a:solidFill>
              </a:rPr>
              <a:t>INTRODUCTION</a:t>
            </a:r>
          </a:p>
        </p:txBody>
      </p:sp>
    </p:spTree>
    <p:extLst>
      <p:ext uri="{BB962C8B-B14F-4D97-AF65-F5344CB8AC3E}">
        <p14:creationId xmlns:p14="http://schemas.microsoft.com/office/powerpoint/2010/main" val="531681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13" name="TextBox 1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6" name="TextBox 1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3</a:t>
            </a:r>
          </a:p>
        </p:txBody>
      </p:sp>
      <p:sp>
        <p:nvSpPr>
          <p:cNvPr id="17" name="TextBox 16"/>
          <p:cNvSpPr txBox="1"/>
          <p:nvPr/>
        </p:nvSpPr>
        <p:spPr>
          <a:xfrm>
            <a:off x="3467100" y="429895"/>
            <a:ext cx="4846320" cy="481330"/>
          </a:xfrm>
          <a:prstGeom prst="rect">
            <a:avLst/>
          </a:prstGeom>
          <a:noFill/>
        </p:spPr>
        <p:txBody>
          <a:bodyPr wrap="square" lIns="18288" tIns="18288" rIns="18288" bIns="18288" anchor="t">
            <a:spAutoFit/>
          </a:bodyPr>
          <a:lstStyle/>
          <a:p>
            <a:pPr algn="ctr"/>
            <a:r>
              <a:rPr lang="en-IN" sz="2900" b="0">
                <a:solidFill>
                  <a:srgbClr val="0000FF"/>
                </a:solidFill>
                <a:latin typeface="Times New Roman" panose="02020603050405020304"/>
              </a:rPr>
              <a:t>Abstract</a:t>
            </a:r>
          </a:p>
        </p:txBody>
      </p:sp>
      <p:sp>
        <p:nvSpPr>
          <p:cNvPr id="18" name="TextBox 17"/>
          <p:cNvSpPr txBox="1"/>
          <p:nvPr/>
        </p:nvSpPr>
        <p:spPr>
          <a:xfrm>
            <a:off x="914400" y="1325880"/>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The Restaurant Management System is a C++ application designed to automate the management of restaurant operations.</a:t>
            </a:r>
          </a:p>
        </p:txBody>
      </p:sp>
      <p:sp>
        <p:nvSpPr>
          <p:cNvPr id="19" name="TextBox 18"/>
          <p:cNvSpPr txBox="1"/>
          <p:nvPr/>
        </p:nvSpPr>
        <p:spPr>
          <a:xfrm>
            <a:off x="914400" y="1901952"/>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It replaces manual, paper-based work with a structured, object-oriented software solution.</a:t>
            </a:r>
          </a:p>
        </p:txBody>
      </p:sp>
      <p:sp>
        <p:nvSpPr>
          <p:cNvPr id="20" name="TextBox 19"/>
          <p:cNvSpPr txBox="1"/>
          <p:nvPr/>
        </p:nvSpPr>
        <p:spPr>
          <a:xfrm>
            <a:off x="914400" y="2478024"/>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The system helps restaurant staff manage menu items, customer orders, table reservations, billing, and customer details from one place.</a:t>
            </a:r>
          </a:p>
        </p:txBody>
      </p:sp>
      <p:sp>
        <p:nvSpPr>
          <p:cNvPr id="21" name="TextBox 20"/>
          <p:cNvSpPr txBox="1"/>
          <p:nvPr/>
        </p:nvSpPr>
        <p:spPr>
          <a:xfrm>
            <a:off x="914400" y="3054096"/>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It applies core OOP principles such as classes, inheritance, polymorphism, and encapsulation to provide a modular and reusable design.</a:t>
            </a:r>
          </a:p>
        </p:txBody>
      </p:sp>
      <p:sp>
        <p:nvSpPr>
          <p:cNvPr id="22" name="TextBox 21"/>
          <p:cNvSpPr txBox="1"/>
          <p:nvPr/>
        </p:nvSpPr>
        <p:spPr>
          <a:xfrm>
            <a:off x="4892040" y="3822191"/>
            <a:ext cx="2377440" cy="274320"/>
          </a:xfrm>
          <a:prstGeom prst="rect">
            <a:avLst/>
          </a:prstGeom>
          <a:noFill/>
        </p:spPr>
        <p:txBody>
          <a:bodyPr wrap="square" lIns="18288" tIns="18288" rIns="18288" bIns="18288" anchor="t">
            <a:spAutoFit/>
          </a:bodyPr>
          <a:lstStyle/>
          <a:p>
            <a:pPr algn="ctr"/>
            <a:r>
              <a:rPr sz="1500" b="1">
                <a:solidFill>
                  <a:srgbClr val="0000FF"/>
                </a:solidFill>
                <a:latin typeface="Times New Roman" panose="02020603050405020304"/>
              </a:rPr>
              <a:t>SYSTEM FLOW</a:t>
            </a:r>
          </a:p>
        </p:txBody>
      </p:sp>
      <p:sp>
        <p:nvSpPr>
          <p:cNvPr id="23" name="Rounded Rectangle 22"/>
          <p:cNvSpPr/>
          <p:nvPr/>
        </p:nvSpPr>
        <p:spPr>
          <a:xfrm>
            <a:off x="100584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Customer</a:t>
            </a:r>
          </a:p>
        </p:txBody>
      </p:sp>
      <p:cxnSp>
        <p:nvCxnSpPr>
          <p:cNvPr id="25" name="Connector 24"/>
          <p:cNvCxnSpPr/>
          <p:nvPr/>
        </p:nvCxnSpPr>
        <p:spPr>
          <a:xfrm>
            <a:off x="246888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15468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15468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Menu</a:t>
            </a:r>
          </a:p>
        </p:txBody>
      </p:sp>
      <p:cxnSp>
        <p:nvCxnSpPr>
          <p:cNvPr id="28" name="Connector 27"/>
          <p:cNvCxnSpPr/>
          <p:nvPr/>
        </p:nvCxnSpPr>
        <p:spPr>
          <a:xfrm>
            <a:off x="461772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30352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Order</a:t>
            </a:r>
          </a:p>
        </p:txBody>
      </p:sp>
      <p:cxnSp>
        <p:nvCxnSpPr>
          <p:cNvPr id="31" name="Connector 30"/>
          <p:cNvCxnSpPr/>
          <p:nvPr/>
        </p:nvCxnSpPr>
        <p:spPr>
          <a:xfrm>
            <a:off x="676656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45236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5236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Bill</a:t>
            </a:r>
          </a:p>
        </p:txBody>
      </p:sp>
      <p:cxnSp>
        <p:nvCxnSpPr>
          <p:cNvPr id="34" name="Connector 33"/>
          <p:cNvCxnSpPr/>
          <p:nvPr/>
        </p:nvCxnSpPr>
        <p:spPr>
          <a:xfrm>
            <a:off x="891540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0120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Payment</a:t>
            </a:r>
          </a:p>
        </p:txBody>
      </p:sp>
      <p:sp>
        <p:nvSpPr>
          <p:cNvPr id="38" name="TextBox 37"/>
          <p:cNvSpPr txBox="1"/>
          <p:nvPr/>
        </p:nvSpPr>
        <p:spPr>
          <a:xfrm>
            <a:off x="2103120" y="5806440"/>
            <a:ext cx="7955279" cy="274320"/>
          </a:xfrm>
          <a:prstGeom prst="rect">
            <a:avLst/>
          </a:prstGeom>
          <a:noFill/>
        </p:spPr>
        <p:txBody>
          <a:bodyPr wrap="square" lIns="18288" tIns="18288" rIns="18288" bIns="18288" anchor="t">
            <a:spAutoFit/>
          </a:bodyPr>
          <a:lstStyle/>
          <a:p>
            <a:pPr algn="ctr"/>
            <a:r>
              <a:rPr sz="1150" b="1">
                <a:solidFill>
                  <a:srgbClr val="0000FF"/>
                </a:solidFill>
                <a:latin typeface="Times New Roman" panose="02020603050405020304"/>
              </a:rPr>
              <a:t>C++  •  Classes  •  Inheritance  •  Polymorphism  •  Encapsulation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669415" y="666115"/>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Problem Statement &amp; Objectives</a:t>
            </a:r>
          </a:p>
        </p:txBody>
      </p:sp>
      <p:sp>
        <p:nvSpPr>
          <p:cNvPr id="4" name="TextBox 3"/>
          <p:cNvSpPr txBox="1"/>
          <p:nvPr/>
        </p:nvSpPr>
        <p:spPr>
          <a:xfrm>
            <a:off x="777240" y="1417320"/>
            <a:ext cx="4206240" cy="365760"/>
          </a:xfrm>
          <a:prstGeom prst="rect">
            <a:avLst/>
          </a:prstGeom>
          <a:noFill/>
        </p:spPr>
        <p:txBody>
          <a:bodyPr wrap="square" lIns="18288" tIns="18288" rIns="18288" bIns="18288" anchor="t">
            <a:spAutoFit/>
          </a:bodyPr>
          <a:lstStyle/>
          <a:p>
            <a:pPr algn="l"/>
            <a:r>
              <a:rPr sz="2200" b="1">
                <a:solidFill>
                  <a:srgbClr val="FF0000"/>
                </a:solidFill>
                <a:latin typeface="Times New Roman" panose="02020603050405020304"/>
              </a:rPr>
              <a:t>Problem Statement</a:t>
            </a:r>
          </a:p>
        </p:txBody>
      </p:sp>
      <p:sp>
        <p:nvSpPr>
          <p:cNvPr id="5" name="TextBox 4"/>
          <p:cNvSpPr txBox="1"/>
          <p:nvPr/>
        </p:nvSpPr>
        <p:spPr>
          <a:xfrm>
            <a:off x="868680" y="1874519"/>
            <a:ext cx="5074920" cy="3383280"/>
          </a:xfrm>
          <a:prstGeom prst="rect">
            <a:avLst/>
          </a:prstGeom>
          <a:noFill/>
        </p:spPr>
        <p:txBody>
          <a:bodyPr wrap="square" lIns="18288" rIns="18288">
            <a:spAutoFit/>
          </a:bodyPr>
          <a:lstStyle/>
          <a:p>
            <a:pPr>
              <a:spcAft>
                <a:spcPts val="700"/>
              </a:spcAft>
              <a:defRPr sz="1550">
                <a:solidFill>
                  <a:srgbClr val="000000"/>
                </a:solidFill>
                <a:latin typeface="Times New Roman" panose="02020603050405020304"/>
              </a:defRPr>
            </a:pPr>
            <a:r>
              <a:t>➢  Manual record maintenance</a:t>
            </a:r>
          </a:p>
          <a:p>
            <a:pPr>
              <a:spcAft>
                <a:spcPts val="700"/>
              </a:spcAft>
              <a:defRPr sz="1550">
                <a:solidFill>
                  <a:srgbClr val="000000"/>
                </a:solidFill>
                <a:latin typeface="Times New Roman" panose="02020603050405020304"/>
              </a:defRPr>
            </a:pPr>
            <a:r>
              <a:t>➢  Order management difficulties</a:t>
            </a:r>
          </a:p>
          <a:p>
            <a:pPr>
              <a:spcAft>
                <a:spcPts val="700"/>
              </a:spcAft>
              <a:defRPr sz="1550">
                <a:solidFill>
                  <a:srgbClr val="000000"/>
                </a:solidFill>
                <a:latin typeface="Times New Roman" panose="02020603050405020304"/>
              </a:defRPr>
            </a:pPr>
            <a:r>
              <a:t>➢  Billing calculation errors</a:t>
            </a:r>
          </a:p>
          <a:p>
            <a:pPr>
              <a:spcAft>
                <a:spcPts val="700"/>
              </a:spcAft>
              <a:defRPr sz="1550">
                <a:solidFill>
                  <a:srgbClr val="000000"/>
                </a:solidFill>
                <a:latin typeface="Times New Roman" panose="02020603050405020304"/>
              </a:defRPr>
            </a:pPr>
            <a:r>
              <a:t>➢  Difficulty updating menu information</a:t>
            </a:r>
          </a:p>
          <a:p>
            <a:pPr>
              <a:spcAft>
                <a:spcPts val="700"/>
              </a:spcAft>
              <a:defRPr sz="1550">
                <a:solidFill>
                  <a:srgbClr val="000000"/>
                </a:solidFill>
                <a:latin typeface="Times New Roman" panose="02020603050405020304"/>
              </a:defRPr>
            </a:pPr>
            <a:r>
              <a:t>➢  Time-consuming transaction handling</a:t>
            </a:r>
          </a:p>
          <a:p>
            <a:pPr>
              <a:spcAft>
                <a:spcPts val="700"/>
              </a:spcAft>
              <a:defRPr sz="1550">
                <a:solidFill>
                  <a:srgbClr val="000000"/>
                </a:solidFill>
                <a:latin typeface="Times New Roman" panose="02020603050405020304"/>
              </a:defRPr>
            </a:pPr>
            <a:r>
              <a:t>➢  Poor organization of previous records</a:t>
            </a:r>
          </a:p>
        </p:txBody>
      </p:sp>
      <p:sp>
        <p:nvSpPr>
          <p:cNvPr id="6" name="TextBox 5"/>
          <p:cNvSpPr txBox="1"/>
          <p:nvPr/>
        </p:nvSpPr>
        <p:spPr>
          <a:xfrm>
            <a:off x="6309360" y="1417320"/>
            <a:ext cx="3200400" cy="365760"/>
          </a:xfrm>
          <a:prstGeom prst="rect">
            <a:avLst/>
          </a:prstGeom>
          <a:noFill/>
        </p:spPr>
        <p:txBody>
          <a:bodyPr wrap="square" lIns="18288" tIns="18288" rIns="18288" bIns="18288" anchor="t">
            <a:spAutoFit/>
          </a:bodyPr>
          <a:lstStyle/>
          <a:p>
            <a:pPr algn="l"/>
            <a:r>
              <a:rPr sz="2200" b="1">
                <a:solidFill>
                  <a:srgbClr val="FF0000"/>
                </a:solidFill>
                <a:latin typeface="Times New Roman" panose="02020603050405020304"/>
              </a:rPr>
              <a:t>Objectives</a:t>
            </a:r>
          </a:p>
        </p:txBody>
      </p:sp>
      <p:sp>
        <p:nvSpPr>
          <p:cNvPr id="7" name="TextBox 6"/>
          <p:cNvSpPr txBox="1"/>
          <p:nvPr/>
        </p:nvSpPr>
        <p:spPr>
          <a:xfrm>
            <a:off x="6400800" y="1874519"/>
            <a:ext cx="4846320" cy="3566160"/>
          </a:xfrm>
          <a:prstGeom prst="rect">
            <a:avLst/>
          </a:prstGeom>
          <a:noFill/>
        </p:spPr>
        <p:txBody>
          <a:bodyPr wrap="square" lIns="18288" rIns="18288">
            <a:spAutoFit/>
          </a:bodyPr>
          <a:lstStyle/>
          <a:p>
            <a:pPr>
              <a:spcAft>
                <a:spcPts val="700"/>
              </a:spcAft>
              <a:defRPr sz="1500">
                <a:solidFill>
                  <a:srgbClr val="000000"/>
                </a:solidFill>
                <a:latin typeface="Times New Roman" panose="02020603050405020304"/>
              </a:defRPr>
            </a:pPr>
            <a:r>
              <a:t>➢  Manage customer information efficiently.</a:t>
            </a:r>
          </a:p>
          <a:p>
            <a:pPr>
              <a:spcAft>
                <a:spcPts val="700"/>
              </a:spcAft>
              <a:defRPr sz="1500">
                <a:solidFill>
                  <a:srgbClr val="000000"/>
                </a:solidFill>
                <a:latin typeface="Times New Roman" panose="02020603050405020304"/>
              </a:defRPr>
            </a:pPr>
            <a:r>
              <a:t>➢  Maintain food/menu details.</a:t>
            </a:r>
          </a:p>
          <a:p>
            <a:pPr>
              <a:spcAft>
                <a:spcPts val="700"/>
              </a:spcAft>
              <a:defRPr sz="1500">
                <a:solidFill>
                  <a:srgbClr val="000000"/>
                </a:solidFill>
                <a:latin typeface="Times New Roman" panose="02020603050405020304"/>
              </a:defRPr>
            </a:pPr>
            <a:r>
              <a:t>➢  Simplify order processing.</a:t>
            </a:r>
          </a:p>
          <a:p>
            <a:pPr>
              <a:spcAft>
                <a:spcPts val="700"/>
              </a:spcAft>
              <a:defRPr sz="1500">
                <a:solidFill>
                  <a:srgbClr val="000000"/>
                </a:solidFill>
                <a:latin typeface="Times New Roman" panose="02020603050405020304"/>
              </a:defRPr>
            </a:pPr>
            <a:r>
              <a:t>➢  Generate accurate bills.</a:t>
            </a:r>
          </a:p>
          <a:p>
            <a:pPr>
              <a:spcAft>
                <a:spcPts val="700"/>
              </a:spcAft>
              <a:defRPr sz="1500">
                <a:solidFill>
                  <a:srgbClr val="000000"/>
                </a:solidFill>
                <a:latin typeface="Times New Roman" panose="02020603050405020304"/>
              </a:defRPr>
            </a:pPr>
            <a:r>
              <a:t>➢  Maintain payment records.</a:t>
            </a:r>
          </a:p>
          <a:p>
            <a:pPr>
              <a:spcAft>
                <a:spcPts val="700"/>
              </a:spcAft>
              <a:defRPr sz="1500">
                <a:solidFill>
                  <a:srgbClr val="000000"/>
                </a:solidFill>
                <a:latin typeface="Times New Roman" panose="02020603050405020304"/>
              </a:defRPr>
            </a:pPr>
            <a:r>
              <a:t>➢  Reduce manual effort and human errors.</a:t>
            </a:r>
          </a:p>
          <a:p>
            <a:pPr>
              <a:spcAft>
                <a:spcPts val="700"/>
              </a:spcAft>
              <a:defRPr sz="1500">
                <a:solidFill>
                  <a:srgbClr val="000000"/>
                </a:solidFill>
                <a:latin typeface="Times New Roman" panose="02020603050405020304"/>
              </a:defRPr>
            </a:pPr>
            <a:r>
              <a:t>➢  Store and retrieve records efficiently.</a:t>
            </a:r>
          </a:p>
        </p:txBody>
      </p:sp>
      <p:sp>
        <p:nvSpPr>
          <p:cNvPr id="8" name="TextBox 7"/>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1" name="TextBox 10"/>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51990" y="513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Users of the System</a:t>
            </a:r>
          </a:p>
        </p:txBody>
      </p:sp>
      <p:sp>
        <p:nvSpPr>
          <p:cNvPr id="4" name="Rounded Rectangle 3"/>
          <p:cNvSpPr/>
          <p:nvPr/>
        </p:nvSpPr>
        <p:spPr>
          <a:xfrm>
            <a:off x="640080" y="1600200"/>
            <a:ext cx="3337560" cy="38404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828800"/>
            <a:ext cx="3017520" cy="411480"/>
          </a:xfrm>
          <a:prstGeom prst="rect">
            <a:avLst/>
          </a:prstGeom>
          <a:noFill/>
        </p:spPr>
        <p:txBody>
          <a:bodyPr wrap="square" lIns="18288" tIns="18288" rIns="18288" bIns="18288" anchor="t">
            <a:spAutoFit/>
          </a:bodyPr>
          <a:lstStyle/>
          <a:p>
            <a:pPr algn="ctr"/>
            <a:r>
              <a:rPr sz="1900" b="1">
                <a:solidFill>
                  <a:srgbClr val="0000FF"/>
                </a:solidFill>
                <a:latin typeface="Times New Roman" panose="02020603050405020304"/>
              </a:rPr>
              <a:t>Admin / Manager</a:t>
            </a:r>
          </a:p>
        </p:txBody>
      </p:sp>
      <p:sp>
        <p:nvSpPr>
          <p:cNvPr id="6" name="TextBox 5"/>
          <p:cNvSpPr txBox="1"/>
          <p:nvPr/>
        </p:nvSpPr>
        <p:spPr>
          <a:xfrm>
            <a:off x="960119" y="2560320"/>
            <a:ext cx="2697480" cy="2011680"/>
          </a:xfrm>
          <a:prstGeom prst="rect">
            <a:avLst/>
          </a:prstGeom>
          <a:noFill/>
        </p:spPr>
        <p:txBody>
          <a:bodyPr wrap="square" lIns="18288" rIns="18288">
            <a:spAutoFit/>
          </a:bodyPr>
          <a:lstStyle/>
          <a:p>
            <a:pPr>
              <a:spcAft>
                <a:spcPts val="900"/>
              </a:spcAft>
              <a:defRPr sz="1400">
                <a:solidFill>
                  <a:srgbClr val="000000"/>
                </a:solidFill>
                <a:latin typeface="Times New Roman" panose="02020603050405020304"/>
              </a:defRPr>
            </a:pPr>
            <a:r>
              <a:t>➢  Manage menu and prices</a:t>
            </a:r>
          </a:p>
          <a:p>
            <a:pPr>
              <a:spcAft>
                <a:spcPts val="900"/>
              </a:spcAft>
              <a:defRPr sz="1400">
                <a:solidFill>
                  <a:srgbClr val="000000"/>
                </a:solidFill>
                <a:latin typeface="Times New Roman" panose="02020603050405020304"/>
              </a:defRPr>
            </a:pPr>
            <a:r>
              <a:t>➢  View orders and records</a:t>
            </a:r>
          </a:p>
          <a:p>
            <a:pPr>
              <a:spcAft>
                <a:spcPts val="900"/>
              </a:spcAft>
              <a:defRPr sz="1400">
                <a:solidFill>
                  <a:srgbClr val="000000"/>
                </a:solidFill>
                <a:latin typeface="Times New Roman" panose="02020603050405020304"/>
              </a:defRPr>
            </a:pPr>
            <a:r>
              <a:t>➢  Monitor restaurant activities</a:t>
            </a:r>
          </a:p>
        </p:txBody>
      </p:sp>
      <p:sp>
        <p:nvSpPr>
          <p:cNvPr id="7" name="Rounded Rectangle 6"/>
          <p:cNvSpPr/>
          <p:nvPr/>
        </p:nvSpPr>
        <p:spPr>
          <a:xfrm>
            <a:off x="4480560" y="1600200"/>
            <a:ext cx="3337560" cy="38404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45152" y="1828800"/>
            <a:ext cx="3017520" cy="411480"/>
          </a:xfrm>
          <a:prstGeom prst="rect">
            <a:avLst/>
          </a:prstGeom>
          <a:noFill/>
        </p:spPr>
        <p:txBody>
          <a:bodyPr wrap="square" lIns="18288" tIns="18288" rIns="18288" bIns="18288" anchor="t">
            <a:spAutoFit/>
          </a:bodyPr>
          <a:lstStyle/>
          <a:p>
            <a:pPr algn="ctr"/>
            <a:r>
              <a:rPr sz="1900" b="1">
                <a:solidFill>
                  <a:srgbClr val="0000FF"/>
                </a:solidFill>
                <a:latin typeface="Times New Roman" panose="02020603050405020304"/>
              </a:rPr>
              <a:t>Staff / Waiter</a:t>
            </a:r>
          </a:p>
        </p:txBody>
      </p:sp>
      <p:sp>
        <p:nvSpPr>
          <p:cNvPr id="9" name="TextBox 8"/>
          <p:cNvSpPr txBox="1"/>
          <p:nvPr/>
        </p:nvSpPr>
        <p:spPr>
          <a:xfrm>
            <a:off x="4800600" y="2560320"/>
            <a:ext cx="2697480" cy="2011680"/>
          </a:xfrm>
          <a:prstGeom prst="rect">
            <a:avLst/>
          </a:prstGeom>
          <a:noFill/>
        </p:spPr>
        <p:txBody>
          <a:bodyPr wrap="square" lIns="18288" rIns="18288">
            <a:spAutoFit/>
          </a:bodyPr>
          <a:lstStyle/>
          <a:p>
            <a:pPr>
              <a:spcAft>
                <a:spcPts val="900"/>
              </a:spcAft>
              <a:defRPr sz="1400">
                <a:solidFill>
                  <a:srgbClr val="000000"/>
                </a:solidFill>
                <a:latin typeface="Times New Roman" panose="02020603050405020304"/>
              </a:defRPr>
            </a:pPr>
            <a:r>
              <a:t>➢  Take customer orders</a:t>
            </a:r>
          </a:p>
          <a:p>
            <a:pPr>
              <a:spcAft>
                <a:spcPts val="900"/>
              </a:spcAft>
              <a:defRPr sz="1400">
                <a:solidFill>
                  <a:srgbClr val="000000"/>
                </a:solidFill>
                <a:latin typeface="Times New Roman" panose="02020603050405020304"/>
              </a:defRPr>
            </a:pPr>
            <a:r>
              <a:t>➢  Update order details</a:t>
            </a:r>
          </a:p>
          <a:p>
            <a:pPr>
              <a:spcAft>
                <a:spcPts val="900"/>
              </a:spcAft>
              <a:defRPr sz="1400">
                <a:solidFill>
                  <a:srgbClr val="000000"/>
                </a:solidFill>
                <a:latin typeface="Times New Roman" panose="02020603050405020304"/>
              </a:defRPr>
            </a:pPr>
            <a:r>
              <a:t>➢  Check food availability</a:t>
            </a:r>
          </a:p>
        </p:txBody>
      </p:sp>
      <p:sp>
        <p:nvSpPr>
          <p:cNvPr id="10" name="Rounded Rectangle 9"/>
          <p:cNvSpPr/>
          <p:nvPr/>
        </p:nvSpPr>
        <p:spPr>
          <a:xfrm>
            <a:off x="8321040" y="1600200"/>
            <a:ext cx="3337560" cy="38404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85632" y="1828800"/>
            <a:ext cx="3017520" cy="411480"/>
          </a:xfrm>
          <a:prstGeom prst="rect">
            <a:avLst/>
          </a:prstGeom>
          <a:noFill/>
        </p:spPr>
        <p:txBody>
          <a:bodyPr wrap="square" lIns="18288" tIns="18288" rIns="18288" bIns="18288" anchor="t">
            <a:spAutoFit/>
          </a:bodyPr>
          <a:lstStyle/>
          <a:p>
            <a:pPr algn="ctr"/>
            <a:r>
              <a:rPr sz="1900" b="1">
                <a:solidFill>
                  <a:srgbClr val="0000FF"/>
                </a:solidFill>
                <a:latin typeface="Times New Roman" panose="02020603050405020304"/>
              </a:rPr>
              <a:t>Customer</a:t>
            </a:r>
          </a:p>
        </p:txBody>
      </p:sp>
      <p:sp>
        <p:nvSpPr>
          <p:cNvPr id="12" name="TextBox 11"/>
          <p:cNvSpPr txBox="1"/>
          <p:nvPr/>
        </p:nvSpPr>
        <p:spPr>
          <a:xfrm>
            <a:off x="8641080" y="2560320"/>
            <a:ext cx="2697480" cy="2011680"/>
          </a:xfrm>
          <a:prstGeom prst="rect">
            <a:avLst/>
          </a:prstGeom>
          <a:noFill/>
        </p:spPr>
        <p:txBody>
          <a:bodyPr wrap="square" lIns="18288" rIns="18288">
            <a:spAutoFit/>
          </a:bodyPr>
          <a:lstStyle/>
          <a:p>
            <a:pPr>
              <a:spcAft>
                <a:spcPts val="900"/>
              </a:spcAft>
              <a:defRPr sz="1400">
                <a:solidFill>
                  <a:srgbClr val="000000"/>
                </a:solidFill>
                <a:latin typeface="Times New Roman" panose="02020603050405020304"/>
              </a:defRPr>
            </a:pPr>
            <a:r>
              <a:t>➢  View menu</a:t>
            </a:r>
          </a:p>
          <a:p>
            <a:pPr>
              <a:spcAft>
                <a:spcPts val="900"/>
              </a:spcAft>
              <a:defRPr sz="1400">
                <a:solidFill>
                  <a:srgbClr val="000000"/>
                </a:solidFill>
                <a:latin typeface="Times New Roman" panose="02020603050405020304"/>
              </a:defRPr>
            </a:pPr>
            <a:r>
              <a:t>➢  Place orders</a:t>
            </a:r>
          </a:p>
          <a:p>
            <a:pPr>
              <a:spcAft>
                <a:spcPts val="900"/>
              </a:spcAft>
              <a:defRPr sz="1400">
                <a:solidFill>
                  <a:srgbClr val="000000"/>
                </a:solidFill>
                <a:latin typeface="Times New Roman" panose="02020603050405020304"/>
              </a:defRPr>
            </a:pPr>
            <a:r>
              <a:t>➢  Receive bill and payment details</a:t>
            </a:r>
          </a:p>
        </p:txBody>
      </p:sp>
      <p:sp>
        <p:nvSpPr>
          <p:cNvPr id="13" name="TextBox 1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6" name="TextBox 1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209800" y="513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Modules / Functionalities</a:t>
            </a:r>
          </a:p>
        </p:txBody>
      </p:sp>
      <p:sp>
        <p:nvSpPr>
          <p:cNvPr id="4" name="Rounded Rectangle 3"/>
          <p:cNvSpPr/>
          <p:nvPr/>
        </p:nvSpPr>
        <p:spPr>
          <a:xfrm>
            <a:off x="777240" y="150876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67335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1. Customer Management</a:t>
            </a:r>
          </a:p>
        </p:txBody>
      </p:sp>
      <p:sp>
        <p:nvSpPr>
          <p:cNvPr id="6" name="TextBox 5"/>
          <p:cNvSpPr txBox="1"/>
          <p:nvPr/>
        </p:nvSpPr>
        <p:spPr>
          <a:xfrm>
            <a:off x="960120" y="205740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Stores and manages customer details.</a:t>
            </a:r>
          </a:p>
        </p:txBody>
      </p:sp>
      <p:sp>
        <p:nvSpPr>
          <p:cNvPr id="7" name="Rounded Rectangle 6"/>
          <p:cNvSpPr/>
          <p:nvPr/>
        </p:nvSpPr>
        <p:spPr>
          <a:xfrm>
            <a:off x="6400800" y="150876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67335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2. Menu Management</a:t>
            </a:r>
          </a:p>
        </p:txBody>
      </p:sp>
      <p:sp>
        <p:nvSpPr>
          <p:cNvPr id="9" name="TextBox 8"/>
          <p:cNvSpPr txBox="1"/>
          <p:nvPr/>
        </p:nvSpPr>
        <p:spPr>
          <a:xfrm>
            <a:off x="6583680" y="205740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Add, update, delete, and display food items and prices.</a:t>
            </a:r>
          </a:p>
        </p:txBody>
      </p:sp>
      <p:sp>
        <p:nvSpPr>
          <p:cNvPr id="10" name="Rounded Rectangle 9"/>
          <p:cNvSpPr/>
          <p:nvPr/>
        </p:nvSpPr>
        <p:spPr>
          <a:xfrm>
            <a:off x="777240" y="301752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182112"/>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3. Order Management</a:t>
            </a:r>
          </a:p>
        </p:txBody>
      </p:sp>
      <p:sp>
        <p:nvSpPr>
          <p:cNvPr id="12" name="TextBox 11"/>
          <p:cNvSpPr txBox="1"/>
          <p:nvPr/>
        </p:nvSpPr>
        <p:spPr>
          <a:xfrm>
            <a:off x="960120" y="356616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Creates and manages customer orders.</a:t>
            </a:r>
          </a:p>
        </p:txBody>
      </p:sp>
      <p:sp>
        <p:nvSpPr>
          <p:cNvPr id="13" name="Rounded Rectangle 12"/>
          <p:cNvSpPr/>
          <p:nvPr/>
        </p:nvSpPr>
        <p:spPr>
          <a:xfrm>
            <a:off x="6400800" y="301752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3182112"/>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4. Billing Management</a:t>
            </a:r>
          </a:p>
        </p:txBody>
      </p:sp>
      <p:sp>
        <p:nvSpPr>
          <p:cNvPr id="15" name="TextBox 14"/>
          <p:cNvSpPr txBox="1"/>
          <p:nvPr/>
        </p:nvSpPr>
        <p:spPr>
          <a:xfrm>
            <a:off x="6583680" y="356616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Calculates total amount and generates bills.</a:t>
            </a:r>
          </a:p>
        </p:txBody>
      </p:sp>
      <p:sp>
        <p:nvSpPr>
          <p:cNvPr id="16" name="Rounded Rectangle 15"/>
          <p:cNvSpPr/>
          <p:nvPr/>
        </p:nvSpPr>
        <p:spPr>
          <a:xfrm>
            <a:off x="777240" y="4526279"/>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69087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5. Payment Management</a:t>
            </a:r>
          </a:p>
        </p:txBody>
      </p:sp>
      <p:sp>
        <p:nvSpPr>
          <p:cNvPr id="18" name="TextBox 17"/>
          <p:cNvSpPr txBox="1"/>
          <p:nvPr/>
        </p:nvSpPr>
        <p:spPr>
          <a:xfrm>
            <a:off x="960120" y="5074919"/>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Records payment mode and payment status.</a:t>
            </a:r>
          </a:p>
        </p:txBody>
      </p:sp>
      <p:sp>
        <p:nvSpPr>
          <p:cNvPr id="19" name="Rounded Rectangle 18"/>
          <p:cNvSpPr/>
          <p:nvPr/>
        </p:nvSpPr>
        <p:spPr>
          <a:xfrm>
            <a:off x="6400800" y="4526279"/>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469087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6. File Management</a:t>
            </a:r>
          </a:p>
        </p:txBody>
      </p:sp>
      <p:sp>
        <p:nvSpPr>
          <p:cNvPr id="21" name="TextBox 20"/>
          <p:cNvSpPr txBox="1"/>
          <p:nvPr/>
        </p:nvSpPr>
        <p:spPr>
          <a:xfrm>
            <a:off x="6583680" y="5074919"/>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Stores and retrieves restaurant records using C++ file handling.</a:t>
            </a:r>
          </a:p>
        </p:txBody>
      </p:sp>
      <p:sp>
        <p:nvSpPr>
          <p:cNvPr id="22" name="TextBox 21"/>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25" name="TextBox 24"/>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025650" y="640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C++ / OOP Design</a:t>
            </a:r>
          </a:p>
        </p:txBody>
      </p:sp>
      <p:sp>
        <p:nvSpPr>
          <p:cNvPr id="4" name="TextBox 3"/>
          <p:cNvSpPr txBox="1"/>
          <p:nvPr/>
        </p:nvSpPr>
        <p:spPr>
          <a:xfrm>
            <a:off x="685800" y="1325880"/>
            <a:ext cx="2011680" cy="320040"/>
          </a:xfrm>
          <a:prstGeom prst="rect">
            <a:avLst/>
          </a:prstGeom>
          <a:noFill/>
        </p:spPr>
        <p:txBody>
          <a:bodyPr wrap="square" lIns="18288" tIns="18288" rIns="18288" bIns="18288" anchor="t">
            <a:spAutoFit/>
          </a:bodyPr>
          <a:lstStyle/>
          <a:p>
            <a:pPr algn="l"/>
            <a:r>
              <a:rPr sz="2000" b="1">
                <a:solidFill>
                  <a:srgbClr val="FF0000"/>
                </a:solidFill>
                <a:latin typeface="Times New Roman" panose="02020603050405020304"/>
              </a:rPr>
              <a:t>Main Classes</a:t>
            </a:r>
          </a:p>
        </p:txBody>
      </p:sp>
      <p:sp>
        <p:nvSpPr>
          <p:cNvPr id="5" name="Rounded Rectangle 4"/>
          <p:cNvSpPr/>
          <p:nvPr/>
        </p:nvSpPr>
        <p:spPr>
          <a:xfrm>
            <a:off x="502920"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Customer Class</a:t>
            </a:r>
          </a:p>
        </p:txBody>
      </p:sp>
      <p:cxnSp>
        <p:nvCxnSpPr>
          <p:cNvPr id="7" name="Connector 6"/>
          <p:cNvCxnSpPr/>
          <p:nvPr/>
        </p:nvCxnSpPr>
        <p:spPr>
          <a:xfrm>
            <a:off x="2468880" y="2212848"/>
            <a:ext cx="338328"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07208"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07208"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Order Class</a:t>
            </a:r>
          </a:p>
        </p:txBody>
      </p:sp>
      <p:cxnSp>
        <p:nvCxnSpPr>
          <p:cNvPr id="10" name="Connector 9"/>
          <p:cNvCxnSpPr/>
          <p:nvPr/>
        </p:nvCxnSpPr>
        <p:spPr>
          <a:xfrm>
            <a:off x="4773168" y="2212848"/>
            <a:ext cx="338328"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11496"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11496"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Food / Menu Class</a:t>
            </a:r>
          </a:p>
        </p:txBody>
      </p:sp>
      <p:cxnSp>
        <p:nvCxnSpPr>
          <p:cNvPr id="13" name="Connector 12"/>
          <p:cNvCxnSpPr/>
          <p:nvPr/>
        </p:nvCxnSpPr>
        <p:spPr>
          <a:xfrm>
            <a:off x="7077456" y="2212848"/>
            <a:ext cx="338327"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15784"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15784"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Bill Class</a:t>
            </a:r>
          </a:p>
        </p:txBody>
      </p:sp>
      <p:cxnSp>
        <p:nvCxnSpPr>
          <p:cNvPr id="16" name="Connector 15"/>
          <p:cNvCxnSpPr/>
          <p:nvPr/>
        </p:nvCxnSpPr>
        <p:spPr>
          <a:xfrm>
            <a:off x="9381744" y="2212848"/>
            <a:ext cx="338328"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720072"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20072"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Payment Class</a:t>
            </a:r>
          </a:p>
        </p:txBody>
      </p:sp>
      <p:sp>
        <p:nvSpPr>
          <p:cNvPr id="19" name="TextBox 18"/>
          <p:cNvSpPr txBox="1"/>
          <p:nvPr/>
        </p:nvSpPr>
        <p:spPr>
          <a:xfrm>
            <a:off x="685800" y="3063240"/>
            <a:ext cx="2743200" cy="320040"/>
          </a:xfrm>
          <a:prstGeom prst="rect">
            <a:avLst/>
          </a:prstGeom>
          <a:noFill/>
        </p:spPr>
        <p:txBody>
          <a:bodyPr wrap="square" lIns="18288" tIns="18288" rIns="18288" bIns="18288" anchor="t">
            <a:spAutoFit/>
          </a:bodyPr>
          <a:lstStyle/>
          <a:p>
            <a:pPr algn="l"/>
            <a:r>
              <a:rPr sz="2000" b="1">
                <a:solidFill>
                  <a:srgbClr val="FF0000"/>
                </a:solidFill>
                <a:latin typeface="Times New Roman" panose="02020603050405020304"/>
              </a:rPr>
              <a:t>OOP Concepts Used</a:t>
            </a:r>
          </a:p>
        </p:txBody>
      </p:sp>
      <p:sp>
        <p:nvSpPr>
          <p:cNvPr id="20" name="Rounded Rectangle 19"/>
          <p:cNvSpPr/>
          <p:nvPr/>
        </p:nvSpPr>
        <p:spPr>
          <a:xfrm>
            <a:off x="822960" y="361188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79476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Classes &amp; Objects</a:t>
            </a:r>
          </a:p>
        </p:txBody>
      </p:sp>
      <p:sp>
        <p:nvSpPr>
          <p:cNvPr id="22" name="Rounded Rectangle 21"/>
          <p:cNvSpPr/>
          <p:nvPr/>
        </p:nvSpPr>
        <p:spPr>
          <a:xfrm>
            <a:off x="4572000" y="361188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0" y="379476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Encapsulation</a:t>
            </a:r>
          </a:p>
        </p:txBody>
      </p:sp>
      <p:sp>
        <p:nvSpPr>
          <p:cNvPr id="24" name="Rounded Rectangle 23"/>
          <p:cNvSpPr/>
          <p:nvPr/>
        </p:nvSpPr>
        <p:spPr>
          <a:xfrm>
            <a:off x="8321040" y="361188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40" y="379476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Inheritance</a:t>
            </a:r>
          </a:p>
        </p:txBody>
      </p:sp>
      <p:sp>
        <p:nvSpPr>
          <p:cNvPr id="26" name="Rounded Rectangle 25"/>
          <p:cNvSpPr/>
          <p:nvPr/>
        </p:nvSpPr>
        <p:spPr>
          <a:xfrm>
            <a:off x="822960" y="457200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75488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Polymorphism</a:t>
            </a:r>
          </a:p>
        </p:txBody>
      </p:sp>
      <p:sp>
        <p:nvSpPr>
          <p:cNvPr id="28" name="Rounded Rectangle 27"/>
          <p:cNvSpPr/>
          <p:nvPr/>
        </p:nvSpPr>
        <p:spPr>
          <a:xfrm>
            <a:off x="4572000" y="457200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0" y="475488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Functions</a:t>
            </a:r>
          </a:p>
        </p:txBody>
      </p:sp>
      <p:sp>
        <p:nvSpPr>
          <p:cNvPr id="30" name="Rounded Rectangle 29"/>
          <p:cNvSpPr/>
          <p:nvPr/>
        </p:nvSpPr>
        <p:spPr>
          <a:xfrm>
            <a:off x="8321040" y="457200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40" y="475488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File Handling</a:t>
            </a:r>
          </a:p>
        </p:txBody>
      </p:sp>
      <p:sp>
        <p:nvSpPr>
          <p:cNvPr id="32" name="TextBox 31"/>
          <p:cNvSpPr txBox="1"/>
          <p:nvPr/>
        </p:nvSpPr>
        <p:spPr>
          <a:xfrm>
            <a:off x="2926080" y="5715000"/>
            <a:ext cx="6400800" cy="274320"/>
          </a:xfrm>
          <a:prstGeom prst="rect">
            <a:avLst/>
          </a:prstGeom>
          <a:noFill/>
        </p:spPr>
        <p:txBody>
          <a:bodyPr wrap="square" lIns="18288" tIns="18288" rIns="18288" bIns="18288" anchor="t">
            <a:spAutoFit/>
          </a:bodyPr>
          <a:lstStyle/>
          <a:p>
            <a:pPr algn="ctr"/>
            <a:r>
              <a:rPr sz="1400" b="1">
                <a:solidFill>
                  <a:srgbClr val="000000"/>
                </a:solidFill>
                <a:latin typeface="Times New Roman" panose="02020603050405020304"/>
              </a:rPr>
              <a:t>Inheritance example:  User  →  Admin / Staff / Customer</a:t>
            </a:r>
          </a:p>
        </p:txBody>
      </p:sp>
      <p:sp>
        <p:nvSpPr>
          <p:cNvPr id="33" name="TextBox 3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36" name="TextBox 3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88820" y="501015"/>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Architecture Diagram</a:t>
            </a:r>
          </a:p>
        </p:txBody>
      </p:sp>
      <p:sp>
        <p:nvSpPr>
          <p:cNvPr id="4" name="Rounded Rectangle 3"/>
          <p:cNvSpPr/>
          <p:nvPr/>
        </p:nvSpPr>
        <p:spPr>
          <a:xfrm>
            <a:off x="914400" y="1554480"/>
            <a:ext cx="10287000" cy="9144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1737360"/>
            <a:ext cx="2743200" cy="274320"/>
          </a:xfrm>
          <a:prstGeom prst="rect">
            <a:avLst/>
          </a:prstGeom>
          <a:noFill/>
        </p:spPr>
        <p:txBody>
          <a:bodyPr wrap="square" lIns="18288" tIns="18288" rIns="18288" bIns="18288" anchor="t">
            <a:spAutoFit/>
          </a:bodyPr>
          <a:lstStyle/>
          <a:p>
            <a:pPr algn="l"/>
            <a:r>
              <a:rPr sz="1500" b="1">
                <a:solidFill>
                  <a:srgbClr val="0000FF"/>
                </a:solidFill>
                <a:latin typeface="Times New Roman" panose="02020603050405020304"/>
              </a:rPr>
              <a:t>Presentation Layer</a:t>
            </a:r>
          </a:p>
        </p:txBody>
      </p:sp>
      <p:sp>
        <p:nvSpPr>
          <p:cNvPr id="6" name="TextBox 5"/>
          <p:cNvSpPr txBox="1"/>
          <p:nvPr/>
        </p:nvSpPr>
        <p:spPr>
          <a:xfrm>
            <a:off x="3886200" y="1737360"/>
            <a:ext cx="6858000" cy="411480"/>
          </a:xfrm>
          <a:prstGeom prst="rect">
            <a:avLst/>
          </a:prstGeom>
          <a:noFill/>
        </p:spPr>
        <p:txBody>
          <a:bodyPr wrap="square" lIns="18288" tIns="18288" rIns="18288" bIns="18288" anchor="t">
            <a:spAutoFit/>
          </a:bodyPr>
          <a:lstStyle/>
          <a:p>
            <a:pPr algn="ctr"/>
            <a:r>
              <a:rPr sz="1300" b="0">
                <a:solidFill>
                  <a:srgbClr val="000000"/>
                </a:solidFill>
                <a:latin typeface="Times New Roman" panose="02020603050405020304"/>
              </a:rPr>
              <a:t>Console / Menu-Driven User Interface</a:t>
            </a:r>
          </a:p>
        </p:txBody>
      </p:sp>
      <p:cxnSp>
        <p:nvCxnSpPr>
          <p:cNvPr id="7" name="Connector 6"/>
          <p:cNvCxnSpPr/>
          <p:nvPr/>
        </p:nvCxnSpPr>
        <p:spPr>
          <a:xfrm>
            <a:off x="6080760" y="2468880"/>
            <a:ext cx="0" cy="502920"/>
          </a:xfrm>
          <a:prstGeom prst="line">
            <a:avLst/>
          </a:prstGeom>
          <a:ln w="25400">
            <a:solidFill>
              <a:srgbClr val="0000F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14400" y="2971800"/>
            <a:ext cx="10287000" cy="9144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3154680"/>
            <a:ext cx="2743200" cy="274320"/>
          </a:xfrm>
          <a:prstGeom prst="rect">
            <a:avLst/>
          </a:prstGeom>
          <a:noFill/>
        </p:spPr>
        <p:txBody>
          <a:bodyPr wrap="square" lIns="18288" tIns="18288" rIns="18288" bIns="18288" anchor="t">
            <a:spAutoFit/>
          </a:bodyPr>
          <a:lstStyle/>
          <a:p>
            <a:pPr algn="l"/>
            <a:r>
              <a:rPr sz="1500" b="1">
                <a:solidFill>
                  <a:srgbClr val="0000FF"/>
                </a:solidFill>
                <a:latin typeface="Times New Roman" panose="02020603050405020304"/>
              </a:rPr>
              <a:t>Application / Business Logic Layer</a:t>
            </a:r>
          </a:p>
        </p:txBody>
      </p:sp>
      <p:sp>
        <p:nvSpPr>
          <p:cNvPr id="10" name="TextBox 9"/>
          <p:cNvSpPr txBox="1"/>
          <p:nvPr/>
        </p:nvSpPr>
        <p:spPr>
          <a:xfrm>
            <a:off x="3886200" y="3154680"/>
            <a:ext cx="6858000" cy="411480"/>
          </a:xfrm>
          <a:prstGeom prst="rect">
            <a:avLst/>
          </a:prstGeom>
          <a:noFill/>
        </p:spPr>
        <p:txBody>
          <a:bodyPr wrap="square" lIns="18288" tIns="18288" rIns="18288" bIns="18288" anchor="t">
            <a:spAutoFit/>
          </a:bodyPr>
          <a:lstStyle/>
          <a:p>
            <a:pPr algn="ctr"/>
            <a:r>
              <a:rPr sz="1300" b="0">
                <a:solidFill>
                  <a:srgbClr val="000000"/>
                </a:solidFill>
                <a:latin typeface="Times New Roman" panose="02020603050405020304"/>
              </a:rPr>
              <a:t>Customer Manager | Menu Manager | Order Manager | Billing Manager | Payment Manager</a:t>
            </a:r>
          </a:p>
        </p:txBody>
      </p:sp>
      <p:cxnSp>
        <p:nvCxnSpPr>
          <p:cNvPr id="11" name="Connector 10"/>
          <p:cNvCxnSpPr/>
          <p:nvPr/>
        </p:nvCxnSpPr>
        <p:spPr>
          <a:xfrm>
            <a:off x="6080760" y="3886200"/>
            <a:ext cx="0" cy="502920"/>
          </a:xfrm>
          <a:prstGeom prst="line">
            <a:avLst/>
          </a:prstGeom>
          <a:ln w="25400">
            <a:solidFill>
              <a:srgbClr val="0000F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4400" y="4389120"/>
            <a:ext cx="10287000" cy="9144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4572000"/>
            <a:ext cx="2743200" cy="274320"/>
          </a:xfrm>
          <a:prstGeom prst="rect">
            <a:avLst/>
          </a:prstGeom>
          <a:noFill/>
        </p:spPr>
        <p:txBody>
          <a:bodyPr wrap="square" lIns="18288" tIns="18288" rIns="18288" bIns="18288" anchor="t">
            <a:spAutoFit/>
          </a:bodyPr>
          <a:lstStyle/>
          <a:p>
            <a:pPr algn="l"/>
            <a:r>
              <a:rPr sz="1500" b="1">
                <a:solidFill>
                  <a:srgbClr val="0000FF"/>
                </a:solidFill>
                <a:latin typeface="Times New Roman" panose="02020603050405020304"/>
              </a:rPr>
              <a:t>Data Layer</a:t>
            </a:r>
          </a:p>
        </p:txBody>
      </p:sp>
      <p:sp>
        <p:nvSpPr>
          <p:cNvPr id="14" name="TextBox 13"/>
          <p:cNvSpPr txBox="1"/>
          <p:nvPr/>
        </p:nvSpPr>
        <p:spPr>
          <a:xfrm>
            <a:off x="3886200" y="4572000"/>
            <a:ext cx="6858000" cy="411480"/>
          </a:xfrm>
          <a:prstGeom prst="rect">
            <a:avLst/>
          </a:prstGeom>
          <a:noFill/>
        </p:spPr>
        <p:txBody>
          <a:bodyPr wrap="square" lIns="18288" tIns="18288" rIns="18288" bIns="18288" anchor="t">
            <a:spAutoFit/>
          </a:bodyPr>
          <a:lstStyle/>
          <a:p>
            <a:pPr algn="ctr"/>
            <a:r>
              <a:rPr sz="1300" b="0">
                <a:solidFill>
                  <a:srgbClr val="000000"/>
                </a:solidFill>
                <a:latin typeface="Times New Roman" panose="02020603050405020304"/>
              </a:rPr>
              <a:t>C++ File Handling</a:t>
            </a:r>
          </a:p>
        </p:txBody>
      </p:sp>
      <p:sp>
        <p:nvSpPr>
          <p:cNvPr id="15" name="TextBox 14"/>
          <p:cNvSpPr txBox="1"/>
          <p:nvPr/>
        </p:nvSpPr>
        <p:spPr>
          <a:xfrm>
            <a:off x="1143000" y="5897880"/>
            <a:ext cx="9966960" cy="274320"/>
          </a:xfrm>
          <a:prstGeom prst="rect">
            <a:avLst/>
          </a:prstGeom>
          <a:noFill/>
        </p:spPr>
        <p:txBody>
          <a:bodyPr wrap="square" lIns="18288" tIns="18288" rIns="18288" bIns="18288" anchor="t">
            <a:spAutoFit/>
          </a:bodyPr>
          <a:lstStyle/>
          <a:p>
            <a:pPr algn="ctr"/>
            <a:r>
              <a:rPr sz="1250" b="0">
                <a:solidFill>
                  <a:srgbClr val="000000"/>
                </a:solidFill>
                <a:latin typeface="Times New Roman" panose="02020603050405020304"/>
              </a:rPr>
              <a:t>Customer Records  |  Menu Records  |  Order Records  |  Billing Records  |  Payment Records</a:t>
            </a:r>
          </a:p>
        </p:txBody>
      </p:sp>
      <p:sp>
        <p:nvSpPr>
          <p:cNvPr id="16" name="TextBox 15"/>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9" name="TextBox 18"/>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026285" y="411480"/>
            <a:ext cx="8138160" cy="502920"/>
          </a:xfrm>
          <a:prstGeom prst="rect">
            <a:avLst/>
          </a:prstGeom>
          <a:noFill/>
        </p:spPr>
        <p:txBody>
          <a:bodyPr wrap="square" lIns="18288" tIns="18288" rIns="18288" bIns="18288" anchor="t">
            <a:spAutoFit/>
          </a:bodyPr>
          <a:lstStyle/>
          <a:p>
            <a:pPr algn="ctr"/>
            <a:r>
              <a:rPr sz="2400" b="0">
                <a:solidFill>
                  <a:srgbClr val="0000FF"/>
                </a:solidFill>
                <a:latin typeface="Times New Roman" panose="02020603050405020304"/>
              </a:rPr>
              <a:t>ER Diagram — Restaurant Management System</a:t>
            </a:r>
          </a:p>
        </p:txBody>
      </p:sp>
      <p:sp>
        <p:nvSpPr>
          <p:cNvPr id="4" name="Rounded Rectangle 3"/>
          <p:cNvSpPr/>
          <p:nvPr/>
        </p:nvSpPr>
        <p:spPr>
          <a:xfrm>
            <a:off x="502920" y="1554480"/>
            <a:ext cx="2240280" cy="16916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664207"/>
            <a:ext cx="22402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CUSTOMER</a:t>
            </a:r>
          </a:p>
        </p:txBody>
      </p:sp>
      <p:sp>
        <p:nvSpPr>
          <p:cNvPr id="6" name="TextBox 5"/>
          <p:cNvSpPr txBox="1"/>
          <p:nvPr/>
        </p:nvSpPr>
        <p:spPr>
          <a:xfrm>
            <a:off x="640080" y="2057400"/>
            <a:ext cx="1965960" cy="109728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Customer_ID (PK)</a:t>
            </a:r>
            <a:br>
              <a:rPr sz="1050" b="0">
                <a:solidFill>
                  <a:srgbClr val="000000"/>
                </a:solidFill>
                <a:latin typeface="Times New Roman" panose="02020603050405020304"/>
              </a:rPr>
            </a:br>
            <a:r>
              <a:t>Name</a:t>
            </a:r>
            <a:br/>
            <a:r>
              <a:t>Phone</a:t>
            </a:r>
          </a:p>
        </p:txBody>
      </p:sp>
      <p:sp>
        <p:nvSpPr>
          <p:cNvPr id="7" name="Rounded Rectangle 6"/>
          <p:cNvSpPr/>
          <p:nvPr/>
        </p:nvSpPr>
        <p:spPr>
          <a:xfrm>
            <a:off x="3337560" y="1325880"/>
            <a:ext cx="2468880" cy="20116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37560" y="1435607"/>
            <a:ext cx="24688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ORDER</a:t>
            </a:r>
          </a:p>
        </p:txBody>
      </p:sp>
      <p:sp>
        <p:nvSpPr>
          <p:cNvPr id="9" name="TextBox 8"/>
          <p:cNvSpPr txBox="1"/>
          <p:nvPr/>
        </p:nvSpPr>
        <p:spPr>
          <a:xfrm>
            <a:off x="3474720" y="1828800"/>
            <a:ext cx="2194560" cy="141732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Order_ID (PK)</a:t>
            </a:r>
            <a:br>
              <a:rPr sz="1050" b="0">
                <a:solidFill>
                  <a:srgbClr val="000000"/>
                </a:solidFill>
                <a:latin typeface="Times New Roman" panose="02020603050405020304"/>
              </a:rPr>
            </a:br>
            <a:r>
              <a:t>Customer_ID (FK)</a:t>
            </a:r>
            <a:br/>
            <a:r>
              <a:t>Order_Date</a:t>
            </a:r>
            <a:br/>
            <a:r>
              <a:t>Total_Amount</a:t>
            </a:r>
          </a:p>
        </p:txBody>
      </p:sp>
      <p:sp>
        <p:nvSpPr>
          <p:cNvPr id="10" name="Rounded Rectangle 9"/>
          <p:cNvSpPr/>
          <p:nvPr/>
        </p:nvSpPr>
        <p:spPr>
          <a:xfrm>
            <a:off x="6537960" y="1325880"/>
            <a:ext cx="2468880" cy="20116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1435607"/>
            <a:ext cx="24688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FOOD</a:t>
            </a:r>
          </a:p>
        </p:txBody>
      </p:sp>
      <p:sp>
        <p:nvSpPr>
          <p:cNvPr id="12" name="TextBox 11"/>
          <p:cNvSpPr txBox="1"/>
          <p:nvPr/>
        </p:nvSpPr>
        <p:spPr>
          <a:xfrm>
            <a:off x="6675120" y="1828800"/>
            <a:ext cx="2194560" cy="141732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Food_ID (PK)</a:t>
            </a:r>
            <a:br>
              <a:rPr sz="1050" b="0">
                <a:solidFill>
                  <a:srgbClr val="000000"/>
                </a:solidFill>
                <a:latin typeface="Times New Roman" panose="02020603050405020304"/>
              </a:rPr>
            </a:br>
            <a:r>
              <a:t>Food_Name</a:t>
            </a:r>
            <a:br/>
            <a:r>
              <a:t>Category</a:t>
            </a:r>
            <a:br/>
            <a:r>
              <a:t>Price</a:t>
            </a:r>
          </a:p>
        </p:txBody>
      </p:sp>
      <p:sp>
        <p:nvSpPr>
          <p:cNvPr id="13" name="Rounded Rectangle 12"/>
          <p:cNvSpPr/>
          <p:nvPr/>
        </p:nvSpPr>
        <p:spPr>
          <a:xfrm>
            <a:off x="3337560" y="4160520"/>
            <a:ext cx="2468880" cy="16459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37560" y="4270248"/>
            <a:ext cx="24688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BILL</a:t>
            </a:r>
          </a:p>
        </p:txBody>
      </p:sp>
      <p:sp>
        <p:nvSpPr>
          <p:cNvPr id="15" name="TextBox 14"/>
          <p:cNvSpPr txBox="1"/>
          <p:nvPr/>
        </p:nvSpPr>
        <p:spPr>
          <a:xfrm>
            <a:off x="3474720" y="4663440"/>
            <a:ext cx="2194560" cy="105156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Bill_ID (PK)</a:t>
            </a:r>
            <a:br>
              <a:rPr sz="1050" b="0">
                <a:solidFill>
                  <a:srgbClr val="000000"/>
                </a:solidFill>
                <a:latin typeface="Times New Roman" panose="02020603050405020304"/>
              </a:rPr>
            </a:br>
            <a:r>
              <a:t>Order_ID (FK)</a:t>
            </a:r>
            <a:br/>
            <a:r>
              <a:t>Amount</a:t>
            </a:r>
            <a:br/>
            <a:r>
              <a:t>Bill_Date</a:t>
            </a:r>
          </a:p>
        </p:txBody>
      </p:sp>
      <p:sp>
        <p:nvSpPr>
          <p:cNvPr id="16" name="Rounded Rectangle 15"/>
          <p:cNvSpPr/>
          <p:nvPr/>
        </p:nvSpPr>
        <p:spPr>
          <a:xfrm>
            <a:off x="6537960" y="4160520"/>
            <a:ext cx="2651760" cy="16459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4270248"/>
            <a:ext cx="265176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PAYMENT</a:t>
            </a:r>
          </a:p>
        </p:txBody>
      </p:sp>
      <p:sp>
        <p:nvSpPr>
          <p:cNvPr id="18" name="TextBox 17"/>
          <p:cNvSpPr txBox="1"/>
          <p:nvPr/>
        </p:nvSpPr>
        <p:spPr>
          <a:xfrm>
            <a:off x="6675120" y="4663440"/>
            <a:ext cx="2377440" cy="105156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Payment_ID (PK)</a:t>
            </a:r>
            <a:br>
              <a:rPr sz="1050" b="0">
                <a:solidFill>
                  <a:srgbClr val="000000"/>
                </a:solidFill>
                <a:latin typeface="Times New Roman" panose="02020603050405020304"/>
              </a:rPr>
            </a:br>
            <a:r>
              <a:t>Bill_ID (FK)</a:t>
            </a:r>
            <a:br/>
            <a:r>
              <a:t>Payment_Mode</a:t>
            </a:r>
            <a:br/>
            <a:r>
              <a:t>Payment_Status</a:t>
            </a:r>
          </a:p>
        </p:txBody>
      </p:sp>
      <p:sp>
        <p:nvSpPr>
          <p:cNvPr id="27" name="TextBox 26"/>
          <p:cNvSpPr txBox="1"/>
          <p:nvPr/>
        </p:nvSpPr>
        <p:spPr>
          <a:xfrm>
            <a:off x="2926080" y="214884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28" name="TextBox 27"/>
          <p:cNvSpPr txBox="1"/>
          <p:nvPr/>
        </p:nvSpPr>
        <p:spPr>
          <a:xfrm>
            <a:off x="3063240" y="2487168"/>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M</a:t>
            </a:r>
          </a:p>
        </p:txBody>
      </p:sp>
      <p:sp>
        <p:nvSpPr>
          <p:cNvPr id="29" name="TextBox 28"/>
          <p:cNvSpPr txBox="1"/>
          <p:nvPr/>
        </p:nvSpPr>
        <p:spPr>
          <a:xfrm>
            <a:off x="5989320" y="214884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M</a:t>
            </a:r>
          </a:p>
        </p:txBody>
      </p:sp>
      <p:sp>
        <p:nvSpPr>
          <p:cNvPr id="30" name="TextBox 29"/>
          <p:cNvSpPr txBox="1"/>
          <p:nvPr/>
        </p:nvSpPr>
        <p:spPr>
          <a:xfrm>
            <a:off x="6291072" y="2487168"/>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N</a:t>
            </a:r>
          </a:p>
        </p:txBody>
      </p:sp>
      <p:sp>
        <p:nvSpPr>
          <p:cNvPr id="31" name="TextBox 30"/>
          <p:cNvSpPr txBox="1"/>
          <p:nvPr/>
        </p:nvSpPr>
        <p:spPr>
          <a:xfrm>
            <a:off x="4315968" y="3547872"/>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2" name="TextBox 31"/>
          <p:cNvSpPr txBox="1"/>
          <p:nvPr/>
        </p:nvSpPr>
        <p:spPr>
          <a:xfrm>
            <a:off x="4617720" y="393192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3" name="TextBox 32"/>
          <p:cNvSpPr txBox="1"/>
          <p:nvPr/>
        </p:nvSpPr>
        <p:spPr>
          <a:xfrm>
            <a:off x="6016752" y="475488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4" name="TextBox 33"/>
          <p:cNvSpPr txBox="1"/>
          <p:nvPr/>
        </p:nvSpPr>
        <p:spPr>
          <a:xfrm>
            <a:off x="6336792" y="5102352"/>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5" name="TextBox 34"/>
          <p:cNvSpPr txBox="1"/>
          <p:nvPr/>
        </p:nvSpPr>
        <p:spPr>
          <a:xfrm>
            <a:off x="640080" y="6080760"/>
            <a:ext cx="3840480" cy="228600"/>
          </a:xfrm>
          <a:prstGeom prst="rect">
            <a:avLst/>
          </a:prstGeom>
          <a:noFill/>
        </p:spPr>
        <p:txBody>
          <a:bodyPr wrap="square" lIns="18288" tIns="18288" rIns="18288" bIns="18288" anchor="t">
            <a:spAutoFit/>
          </a:bodyPr>
          <a:lstStyle/>
          <a:p>
            <a:pPr algn="l"/>
            <a:r>
              <a:rPr sz="900" b="0">
                <a:solidFill>
                  <a:srgbClr val="000000"/>
                </a:solidFill>
                <a:latin typeface="Times New Roman" panose="02020603050405020304"/>
              </a:rPr>
              <a:t>PK = Primary Key     FK = Foreign Key</a:t>
            </a:r>
          </a:p>
        </p:txBody>
      </p:sp>
      <p:sp>
        <p:nvSpPr>
          <p:cNvPr id="36" name="TextBox 35"/>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39" name="TextBox 38"/>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9</a:t>
            </a:r>
          </a:p>
        </p:txBody>
      </p:sp>
      <p:cxnSp>
        <p:nvCxnSpPr>
          <p:cNvPr id="40" name="Connector 39"/>
          <p:cNvCxnSpPr/>
          <p:nvPr/>
        </p:nvCxnSpPr>
        <p:spPr>
          <a:xfrm>
            <a:off x="2743200" y="2395728"/>
            <a:ext cx="59436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806440" y="2331720"/>
            <a:ext cx="731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572000" y="3337560"/>
            <a:ext cx="0" cy="82296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806440" y="4983480"/>
            <a:ext cx="731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779776" y="2084831"/>
            <a:ext cx="713232"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PLACES</a:t>
            </a:r>
          </a:p>
        </p:txBody>
      </p:sp>
      <p:sp>
        <p:nvSpPr>
          <p:cNvPr id="45" name="TextBox 44"/>
          <p:cNvSpPr txBox="1"/>
          <p:nvPr/>
        </p:nvSpPr>
        <p:spPr>
          <a:xfrm>
            <a:off x="5797296" y="2011680"/>
            <a:ext cx="822960"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CONTAINS</a:t>
            </a:r>
          </a:p>
        </p:txBody>
      </p:sp>
      <p:sp>
        <p:nvSpPr>
          <p:cNvPr id="46" name="TextBox 45"/>
          <p:cNvSpPr txBox="1"/>
          <p:nvPr/>
        </p:nvSpPr>
        <p:spPr>
          <a:xfrm>
            <a:off x="4645152" y="3584448"/>
            <a:ext cx="868680"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GENERATES</a:t>
            </a:r>
          </a:p>
        </p:txBody>
      </p:sp>
      <p:sp>
        <p:nvSpPr>
          <p:cNvPr id="47" name="TextBox 46"/>
          <p:cNvSpPr txBox="1"/>
          <p:nvPr/>
        </p:nvSpPr>
        <p:spPr>
          <a:xfrm>
            <a:off x="5934456" y="4645152"/>
            <a:ext cx="502920"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HAS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057400" y="4114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Planning and Timeline Diagram</a:t>
            </a:r>
          </a:p>
        </p:txBody>
      </p:sp>
      <p:cxnSp>
        <p:nvCxnSpPr>
          <p:cNvPr id="4" name="Connector 3"/>
          <p:cNvCxnSpPr/>
          <p:nvPr/>
        </p:nvCxnSpPr>
        <p:spPr>
          <a:xfrm>
            <a:off x="914400" y="3154680"/>
            <a:ext cx="10241280" cy="0"/>
          </a:xfrm>
          <a:prstGeom prst="line">
            <a:avLst/>
          </a:prstGeom>
          <a:ln w="25400">
            <a:solidFill>
              <a:srgbClr val="0000F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68580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W1</a:t>
            </a:r>
          </a:p>
        </p:txBody>
      </p:sp>
      <p:sp>
        <p:nvSpPr>
          <p:cNvPr id="7" name="TextBox 6"/>
          <p:cNvSpPr txBox="1"/>
          <p:nvPr/>
        </p:nvSpPr>
        <p:spPr>
          <a:xfrm>
            <a:off x="45720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Requirement Analysis</a:t>
            </a:r>
          </a:p>
        </p:txBody>
      </p:sp>
      <p:sp>
        <p:nvSpPr>
          <p:cNvPr id="8" name="Oval 7"/>
          <p:cNvSpPr/>
          <p:nvPr/>
        </p:nvSpPr>
        <p:spPr>
          <a:xfrm>
            <a:off x="256032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W2</a:t>
            </a:r>
          </a:p>
        </p:txBody>
      </p:sp>
      <p:sp>
        <p:nvSpPr>
          <p:cNvPr id="10" name="TextBox 9"/>
          <p:cNvSpPr txBox="1"/>
          <p:nvPr/>
        </p:nvSpPr>
        <p:spPr>
          <a:xfrm>
            <a:off x="233172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System Design &amp; ER/Class Diagrams</a:t>
            </a:r>
          </a:p>
        </p:txBody>
      </p:sp>
      <p:sp>
        <p:nvSpPr>
          <p:cNvPr id="11" name="Oval 10"/>
          <p:cNvSpPr/>
          <p:nvPr/>
        </p:nvSpPr>
        <p:spPr>
          <a:xfrm>
            <a:off x="443484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W3</a:t>
            </a:r>
          </a:p>
        </p:txBody>
      </p:sp>
      <p:sp>
        <p:nvSpPr>
          <p:cNvPr id="13" name="TextBox 12"/>
          <p:cNvSpPr txBox="1"/>
          <p:nvPr/>
        </p:nvSpPr>
        <p:spPr>
          <a:xfrm>
            <a:off x="420624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C++ Module Development</a:t>
            </a:r>
          </a:p>
        </p:txBody>
      </p:sp>
      <p:sp>
        <p:nvSpPr>
          <p:cNvPr id="14" name="Oval 13"/>
          <p:cNvSpPr/>
          <p:nvPr/>
        </p:nvSpPr>
        <p:spPr>
          <a:xfrm>
            <a:off x="6309359"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59"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W4</a:t>
            </a:r>
          </a:p>
        </p:txBody>
      </p:sp>
      <p:sp>
        <p:nvSpPr>
          <p:cNvPr id="16" name="TextBox 15"/>
          <p:cNvSpPr txBox="1"/>
          <p:nvPr/>
        </p:nvSpPr>
        <p:spPr>
          <a:xfrm>
            <a:off x="6080759"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Integration &amp; File Handling</a:t>
            </a:r>
          </a:p>
        </p:txBody>
      </p:sp>
      <p:sp>
        <p:nvSpPr>
          <p:cNvPr id="17" name="Oval 16"/>
          <p:cNvSpPr/>
          <p:nvPr/>
        </p:nvSpPr>
        <p:spPr>
          <a:xfrm>
            <a:off x="8183879"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3879"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W5</a:t>
            </a:r>
          </a:p>
        </p:txBody>
      </p:sp>
      <p:sp>
        <p:nvSpPr>
          <p:cNvPr id="19" name="TextBox 18"/>
          <p:cNvSpPr txBox="1"/>
          <p:nvPr/>
        </p:nvSpPr>
        <p:spPr>
          <a:xfrm>
            <a:off x="7955279"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Testing &amp; Debugging</a:t>
            </a:r>
          </a:p>
        </p:txBody>
      </p:sp>
      <p:sp>
        <p:nvSpPr>
          <p:cNvPr id="20" name="Oval 19"/>
          <p:cNvSpPr/>
          <p:nvPr/>
        </p:nvSpPr>
        <p:spPr>
          <a:xfrm>
            <a:off x="1005840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W6</a:t>
            </a:r>
          </a:p>
        </p:txBody>
      </p:sp>
      <p:sp>
        <p:nvSpPr>
          <p:cNvPr id="22" name="TextBox 21"/>
          <p:cNvSpPr txBox="1"/>
          <p:nvPr/>
        </p:nvSpPr>
        <p:spPr>
          <a:xfrm>
            <a:off x="982980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Documentation &amp; PPT Preparation</a:t>
            </a:r>
          </a:p>
        </p:txBody>
      </p:sp>
      <p:sp>
        <p:nvSpPr>
          <p:cNvPr id="23" name="TextBox 22"/>
          <p:cNvSpPr txBox="1"/>
          <p:nvPr/>
        </p:nvSpPr>
        <p:spPr>
          <a:xfrm>
            <a:off x="914400" y="1600200"/>
            <a:ext cx="2011680" cy="274320"/>
          </a:xfrm>
          <a:prstGeom prst="rect">
            <a:avLst/>
          </a:prstGeom>
          <a:noFill/>
        </p:spPr>
        <p:txBody>
          <a:bodyPr wrap="square" lIns="18288" tIns="18288" rIns="18288" bIns="18288" anchor="t">
            <a:spAutoFit/>
          </a:bodyPr>
          <a:lstStyle/>
          <a:p>
            <a:pPr algn="l"/>
            <a:r>
              <a:rPr sz="1700" b="1">
                <a:solidFill>
                  <a:srgbClr val="FF0000"/>
                </a:solidFill>
                <a:latin typeface="Times New Roman" panose="02020603050405020304"/>
              </a:rPr>
              <a:t>Requirement Analysis</a:t>
            </a:r>
          </a:p>
        </p:txBody>
      </p:sp>
      <p:sp>
        <p:nvSpPr>
          <p:cNvPr id="24" name="TextBox 23"/>
          <p:cNvSpPr txBox="1"/>
          <p:nvPr/>
        </p:nvSpPr>
        <p:spPr>
          <a:xfrm>
            <a:off x="3154680" y="1600200"/>
            <a:ext cx="2926080" cy="274320"/>
          </a:xfrm>
          <a:prstGeom prst="rect">
            <a:avLst/>
          </a:prstGeom>
          <a:noFill/>
        </p:spPr>
        <p:txBody>
          <a:bodyPr wrap="square" lIns="18288" tIns="18288" rIns="18288" bIns="18288" anchor="t">
            <a:spAutoFit/>
          </a:bodyPr>
          <a:lstStyle/>
          <a:p>
            <a:pPr algn="l"/>
            <a:r>
              <a:rPr sz="1700" b="1">
                <a:solidFill>
                  <a:srgbClr val="0000FF"/>
                </a:solidFill>
                <a:latin typeface="Times New Roman" panose="02020603050405020304"/>
              </a:rPr>
              <a:t>System Design (Class/ER Diagrams)</a:t>
            </a:r>
          </a:p>
        </p:txBody>
      </p:sp>
      <p:sp>
        <p:nvSpPr>
          <p:cNvPr id="25" name="TextBox 24"/>
          <p:cNvSpPr txBox="1"/>
          <p:nvPr/>
        </p:nvSpPr>
        <p:spPr>
          <a:xfrm>
            <a:off x="6172200" y="1600200"/>
            <a:ext cx="2743200" cy="274320"/>
          </a:xfrm>
          <a:prstGeom prst="rect">
            <a:avLst/>
          </a:prstGeom>
          <a:noFill/>
        </p:spPr>
        <p:txBody>
          <a:bodyPr wrap="square" lIns="18288" tIns="18288" rIns="18288" bIns="18288" anchor="t">
            <a:spAutoFit/>
          </a:bodyPr>
          <a:lstStyle/>
          <a:p>
            <a:pPr algn="l"/>
            <a:r>
              <a:rPr sz="1700" b="1">
                <a:solidFill>
                  <a:srgbClr val="0000FF"/>
                </a:solidFill>
                <a:latin typeface="Times New Roman" panose="02020603050405020304"/>
              </a:rPr>
              <a:t>Coding &amp; Module Development</a:t>
            </a:r>
          </a:p>
        </p:txBody>
      </p:sp>
      <p:sp>
        <p:nvSpPr>
          <p:cNvPr id="26" name="TextBox 25"/>
          <p:cNvSpPr txBox="1"/>
          <p:nvPr/>
        </p:nvSpPr>
        <p:spPr>
          <a:xfrm>
            <a:off x="8869680" y="1600200"/>
            <a:ext cx="2194560" cy="274320"/>
          </a:xfrm>
          <a:prstGeom prst="rect">
            <a:avLst/>
          </a:prstGeom>
          <a:noFill/>
        </p:spPr>
        <p:txBody>
          <a:bodyPr wrap="square" lIns="18288" tIns="18288" rIns="18288" bIns="18288" anchor="t">
            <a:spAutoFit/>
          </a:bodyPr>
          <a:lstStyle/>
          <a:p>
            <a:pPr algn="l"/>
            <a:r>
              <a:rPr sz="1700" b="1">
                <a:solidFill>
                  <a:srgbClr val="0000FF"/>
                </a:solidFill>
                <a:latin typeface="Times New Roman" panose="02020603050405020304"/>
              </a:rPr>
              <a:t>Integration &amp; Testing</a:t>
            </a:r>
          </a:p>
        </p:txBody>
      </p:sp>
      <p:sp>
        <p:nvSpPr>
          <p:cNvPr id="27" name="TextBox 26"/>
          <p:cNvSpPr txBox="1"/>
          <p:nvPr/>
        </p:nvSpPr>
        <p:spPr>
          <a:xfrm>
            <a:off x="4069080" y="5212080"/>
            <a:ext cx="4114800" cy="320040"/>
          </a:xfrm>
          <a:prstGeom prst="rect">
            <a:avLst/>
          </a:prstGeom>
          <a:noFill/>
        </p:spPr>
        <p:txBody>
          <a:bodyPr wrap="square" lIns="18288" tIns="18288" rIns="18288" bIns="18288" anchor="t">
            <a:spAutoFit/>
          </a:bodyPr>
          <a:lstStyle/>
          <a:p>
            <a:pPr algn="ctr"/>
            <a:r>
              <a:rPr sz="1700" b="1">
                <a:solidFill>
                  <a:srgbClr val="FF0000"/>
                </a:solidFill>
                <a:latin typeface="Times New Roman" panose="02020603050405020304"/>
              </a:rPr>
              <a:t>Documentation &amp; Final Review</a:t>
            </a:r>
          </a:p>
        </p:txBody>
      </p:sp>
      <p:sp>
        <p:nvSpPr>
          <p:cNvPr id="28" name="TextBox 27"/>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31" name="TextBox 30"/>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40560" y="475615"/>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Role of Each Individual</a:t>
            </a:r>
          </a:p>
        </p:txBody>
      </p:sp>
      <p:sp>
        <p:nvSpPr>
          <p:cNvPr id="4" name="Rounded Rectangle 3"/>
          <p:cNvSpPr/>
          <p:nvPr/>
        </p:nvSpPr>
        <p:spPr>
          <a:xfrm>
            <a:off x="50292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K. Jaswanthi</a:t>
            </a:r>
          </a:p>
        </p:txBody>
      </p:sp>
      <p:sp>
        <p:nvSpPr>
          <p:cNvPr id="6" name="TextBox 5"/>
          <p:cNvSpPr txBox="1"/>
          <p:nvPr/>
        </p:nvSpPr>
        <p:spPr>
          <a:xfrm>
            <a:off x="594360"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25B11AI619</a:t>
            </a:r>
          </a:p>
        </p:txBody>
      </p:sp>
      <p:sp>
        <p:nvSpPr>
          <p:cNvPr id="7" name="TextBox 6"/>
          <p:cNvSpPr txBox="1"/>
          <p:nvPr/>
        </p:nvSpPr>
        <p:spPr>
          <a:xfrm>
            <a:off x="68580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Team Leader</a:t>
            </a:r>
          </a:p>
          <a:p>
            <a:pPr>
              <a:spcAft>
                <a:spcPts val="600"/>
              </a:spcAft>
              <a:defRPr sz="1150">
                <a:solidFill>
                  <a:srgbClr val="000000"/>
                </a:solidFill>
                <a:latin typeface="Times New Roman" panose="02020603050405020304"/>
              </a:defRPr>
            </a:pPr>
            <a:r>
              <a:t>➢  Requirement analysis</a:t>
            </a:r>
          </a:p>
          <a:p>
            <a:pPr>
              <a:spcAft>
                <a:spcPts val="600"/>
              </a:spcAft>
              <a:defRPr sz="1150">
                <a:solidFill>
                  <a:srgbClr val="000000"/>
                </a:solidFill>
                <a:latin typeface="Times New Roman" panose="02020603050405020304"/>
              </a:defRPr>
            </a:pPr>
            <a:r>
              <a:t>➢  Customer management</a:t>
            </a:r>
          </a:p>
          <a:p>
            <a:pPr>
              <a:spcAft>
                <a:spcPts val="600"/>
              </a:spcAft>
              <a:defRPr sz="1150">
                <a:solidFill>
                  <a:srgbClr val="000000"/>
                </a:solidFill>
                <a:latin typeface="Times New Roman" panose="02020603050405020304"/>
              </a:defRPr>
            </a:pPr>
            <a:r>
              <a:t>➢  Order management</a:t>
            </a:r>
          </a:p>
          <a:p>
            <a:pPr>
              <a:spcAft>
                <a:spcPts val="600"/>
              </a:spcAft>
              <a:defRPr sz="1150">
                <a:solidFill>
                  <a:srgbClr val="000000"/>
                </a:solidFill>
                <a:latin typeface="Times New Roman" panose="02020603050405020304"/>
              </a:defRPr>
            </a:pPr>
            <a:r>
              <a:t>➢  Team coordination</a:t>
            </a:r>
          </a:p>
        </p:txBody>
      </p:sp>
      <p:sp>
        <p:nvSpPr>
          <p:cNvPr id="8" name="Rounded Rectangle 7"/>
          <p:cNvSpPr/>
          <p:nvPr/>
        </p:nvSpPr>
        <p:spPr>
          <a:xfrm>
            <a:off x="338328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0"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T. Sanjana</a:t>
            </a:r>
          </a:p>
        </p:txBody>
      </p:sp>
      <p:sp>
        <p:nvSpPr>
          <p:cNvPr id="10" name="TextBox 9"/>
          <p:cNvSpPr txBox="1"/>
          <p:nvPr/>
        </p:nvSpPr>
        <p:spPr>
          <a:xfrm>
            <a:off x="3474720"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25B11AIB85</a:t>
            </a:r>
          </a:p>
        </p:txBody>
      </p:sp>
      <p:sp>
        <p:nvSpPr>
          <p:cNvPr id="11" name="TextBox 10"/>
          <p:cNvSpPr txBox="1"/>
          <p:nvPr/>
        </p:nvSpPr>
        <p:spPr>
          <a:xfrm>
            <a:off x="356616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Menu management</a:t>
            </a:r>
          </a:p>
          <a:p>
            <a:pPr>
              <a:spcAft>
                <a:spcPts val="600"/>
              </a:spcAft>
              <a:defRPr sz="1150">
                <a:solidFill>
                  <a:srgbClr val="000000"/>
                </a:solidFill>
                <a:latin typeface="Times New Roman" panose="02020603050405020304"/>
              </a:defRPr>
            </a:pPr>
            <a:r>
              <a:t>➢  ER Diagram / DFD</a:t>
            </a:r>
          </a:p>
          <a:p>
            <a:pPr>
              <a:spcAft>
                <a:spcPts val="600"/>
              </a:spcAft>
              <a:defRPr sz="1150">
                <a:solidFill>
                  <a:srgbClr val="000000"/>
                </a:solidFill>
                <a:latin typeface="Times New Roman" panose="02020603050405020304"/>
              </a:defRPr>
            </a:pPr>
            <a:r>
              <a:t>➢  Data organization</a:t>
            </a:r>
          </a:p>
        </p:txBody>
      </p:sp>
      <p:sp>
        <p:nvSpPr>
          <p:cNvPr id="12" name="Rounded Rectangle 11"/>
          <p:cNvSpPr/>
          <p:nvPr/>
        </p:nvSpPr>
        <p:spPr>
          <a:xfrm>
            <a:off x="626364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79"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R. P. Chandrasekhar</a:t>
            </a:r>
          </a:p>
        </p:txBody>
      </p:sp>
      <p:sp>
        <p:nvSpPr>
          <p:cNvPr id="14" name="TextBox 13"/>
          <p:cNvSpPr txBox="1"/>
          <p:nvPr/>
        </p:nvSpPr>
        <p:spPr>
          <a:xfrm>
            <a:off x="6355079"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25B11AIA43</a:t>
            </a:r>
          </a:p>
        </p:txBody>
      </p:sp>
      <p:sp>
        <p:nvSpPr>
          <p:cNvPr id="15" name="TextBox 14"/>
          <p:cNvSpPr txBox="1"/>
          <p:nvPr/>
        </p:nvSpPr>
        <p:spPr>
          <a:xfrm>
            <a:off x="644652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Billing management</a:t>
            </a:r>
          </a:p>
          <a:p>
            <a:pPr>
              <a:spcAft>
                <a:spcPts val="600"/>
              </a:spcAft>
              <a:defRPr sz="1150">
                <a:solidFill>
                  <a:srgbClr val="000000"/>
                </a:solidFill>
                <a:latin typeface="Times New Roman" panose="02020603050405020304"/>
              </a:defRPr>
            </a:pPr>
            <a:r>
              <a:t>➢  Payment management</a:t>
            </a:r>
          </a:p>
          <a:p>
            <a:pPr>
              <a:spcAft>
                <a:spcPts val="600"/>
              </a:spcAft>
              <a:defRPr sz="1150">
                <a:solidFill>
                  <a:srgbClr val="000000"/>
                </a:solidFill>
                <a:latin typeface="Times New Roman" panose="02020603050405020304"/>
              </a:defRPr>
            </a:pPr>
            <a:r>
              <a:t>➢  Architecture design</a:t>
            </a:r>
          </a:p>
        </p:txBody>
      </p:sp>
      <p:sp>
        <p:nvSpPr>
          <p:cNvPr id="16" name="Rounded Rectangle 15"/>
          <p:cNvSpPr/>
          <p:nvPr/>
        </p:nvSpPr>
        <p:spPr>
          <a:xfrm>
            <a:off x="914400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35440"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P. Hari Babu</a:t>
            </a:r>
          </a:p>
        </p:txBody>
      </p:sp>
      <p:sp>
        <p:nvSpPr>
          <p:cNvPr id="18" name="TextBox 17"/>
          <p:cNvSpPr txBox="1"/>
          <p:nvPr/>
        </p:nvSpPr>
        <p:spPr>
          <a:xfrm>
            <a:off x="9235440"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25B11AI935</a:t>
            </a:r>
          </a:p>
        </p:txBody>
      </p:sp>
      <p:sp>
        <p:nvSpPr>
          <p:cNvPr id="19" name="TextBox 18"/>
          <p:cNvSpPr txBox="1"/>
          <p:nvPr/>
        </p:nvSpPr>
        <p:spPr>
          <a:xfrm>
            <a:off x="932688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File handling</a:t>
            </a:r>
          </a:p>
          <a:p>
            <a:pPr>
              <a:spcAft>
                <a:spcPts val="600"/>
              </a:spcAft>
              <a:defRPr sz="1150">
                <a:solidFill>
                  <a:srgbClr val="000000"/>
                </a:solidFill>
                <a:latin typeface="Times New Roman" panose="02020603050405020304"/>
              </a:defRPr>
            </a:pPr>
            <a:r>
              <a:t>➢  Testing &amp; debugging</a:t>
            </a:r>
          </a:p>
          <a:p>
            <a:pPr>
              <a:spcAft>
                <a:spcPts val="600"/>
              </a:spcAft>
              <a:defRPr sz="1150">
                <a:solidFill>
                  <a:srgbClr val="000000"/>
                </a:solidFill>
                <a:latin typeface="Times New Roman" panose="02020603050405020304"/>
              </a:defRPr>
            </a:pPr>
            <a:r>
              <a:t>➢  Documentation support</a:t>
            </a:r>
          </a:p>
        </p:txBody>
      </p:sp>
      <p:sp>
        <p:nvSpPr>
          <p:cNvPr id="20" name="TextBox 19"/>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23" name="TextBox 22"/>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43100" y="513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Conclusion</a:t>
            </a:r>
          </a:p>
        </p:txBody>
      </p:sp>
      <p:sp>
        <p:nvSpPr>
          <p:cNvPr id="4" name="TextBox 3"/>
          <p:cNvSpPr txBox="1"/>
          <p:nvPr/>
        </p:nvSpPr>
        <p:spPr>
          <a:xfrm>
            <a:off x="822960" y="892810"/>
            <a:ext cx="10515600" cy="1420495"/>
          </a:xfrm>
          <a:prstGeom prst="rect">
            <a:avLst/>
          </a:prstGeom>
          <a:noFill/>
        </p:spPr>
        <p:txBody>
          <a:bodyPr wrap="square" lIns="18288" tIns="18288" rIns="18288" bIns="18288" anchor="t">
            <a:spAutoFit/>
          </a:bodyPr>
          <a:lstStyle/>
          <a:p>
            <a:pPr algn="ctr"/>
            <a:endParaRPr lang="en-US" altLang="en-US" sz="1800" b="0">
              <a:solidFill>
                <a:srgbClr val="000000"/>
              </a:solidFill>
              <a:latin typeface="Times New Roman" panose="02020603050405020304"/>
            </a:endParaRPr>
          </a:p>
          <a:p>
            <a:pPr algn="ctr"/>
            <a:r>
              <a:rPr lang="en-US" altLang="en-US" sz="1800" b="0">
                <a:solidFill>
                  <a:srgbClr val="000000"/>
                </a:solidFill>
                <a:latin typeface="Times New Roman" panose="02020603050405020304"/>
              </a:rPr>
              <a:t>The Restaurant Management System provides a simple and efficient way to manage restaurant activities. It helps manage customer details, food menus, orders, billing, and payments. The system uses C++ and OOP concepts such as classes, objects, encapsulation, and file handling. Overall, it reduces manual work and makes restaurant management more organized and efficient</a:t>
            </a:r>
            <a:r>
              <a:rPr sz="1800" b="0">
                <a:solidFill>
                  <a:srgbClr val="000000"/>
                </a:solidFill>
                <a:latin typeface="Times New Roman" panose="02020603050405020304"/>
              </a:rPr>
              <a:t>.</a:t>
            </a:r>
          </a:p>
        </p:txBody>
      </p:sp>
      <p:sp>
        <p:nvSpPr>
          <p:cNvPr id="5" name="TextBox 4"/>
          <p:cNvSpPr txBox="1"/>
          <p:nvPr/>
        </p:nvSpPr>
        <p:spPr>
          <a:xfrm>
            <a:off x="822960" y="2240280"/>
            <a:ext cx="2011680" cy="274320"/>
          </a:xfrm>
          <a:prstGeom prst="rect">
            <a:avLst/>
          </a:prstGeom>
          <a:noFill/>
        </p:spPr>
        <p:txBody>
          <a:bodyPr wrap="square" lIns="18288" tIns="18288" rIns="18288" bIns="18288" anchor="t">
            <a:spAutoFit/>
          </a:bodyPr>
          <a:lstStyle/>
          <a:p>
            <a:pPr algn="ctr"/>
            <a:r>
              <a:rPr sz="1800" b="1">
                <a:solidFill>
                  <a:srgbClr val="FF0000"/>
                </a:solidFill>
                <a:latin typeface="Times New Roman" panose="02020603050405020304"/>
              </a:rPr>
              <a:t>It helps manage:</a:t>
            </a:r>
          </a:p>
        </p:txBody>
      </p:sp>
      <p:sp>
        <p:nvSpPr>
          <p:cNvPr id="6" name="Rounded Rectangle 5"/>
          <p:cNvSpPr/>
          <p:nvPr/>
        </p:nvSpPr>
        <p:spPr>
          <a:xfrm>
            <a:off x="91440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Customers</a:t>
            </a:r>
          </a:p>
        </p:txBody>
      </p:sp>
      <p:cxnSp>
        <p:nvCxnSpPr>
          <p:cNvPr id="8" name="Connector 7"/>
          <p:cNvCxnSpPr/>
          <p:nvPr/>
        </p:nvCxnSpPr>
        <p:spPr>
          <a:xfrm>
            <a:off x="251460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6324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6324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Menu</a:t>
            </a:r>
          </a:p>
        </p:txBody>
      </p:sp>
      <p:cxnSp>
        <p:nvCxnSpPr>
          <p:cNvPr id="11" name="Connector 10"/>
          <p:cNvCxnSpPr/>
          <p:nvPr/>
        </p:nvCxnSpPr>
        <p:spPr>
          <a:xfrm>
            <a:off x="466344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1208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Orders</a:t>
            </a:r>
          </a:p>
        </p:txBody>
      </p:sp>
      <p:cxnSp>
        <p:nvCxnSpPr>
          <p:cNvPr id="14" name="Connector 13"/>
          <p:cNvCxnSpPr/>
          <p:nvPr/>
        </p:nvCxnSpPr>
        <p:spPr>
          <a:xfrm>
            <a:off x="681228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6092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6092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Billing</a:t>
            </a:r>
          </a:p>
        </p:txBody>
      </p:sp>
      <p:cxnSp>
        <p:nvCxnSpPr>
          <p:cNvPr id="17" name="Connector 16"/>
          <p:cNvCxnSpPr/>
          <p:nvPr/>
        </p:nvCxnSpPr>
        <p:spPr>
          <a:xfrm>
            <a:off x="896112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0976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976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Payments</a:t>
            </a:r>
          </a:p>
        </p:txBody>
      </p:sp>
      <p:sp>
        <p:nvSpPr>
          <p:cNvPr id="23" name="TextBox 2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26" name="TextBox 2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12</a:t>
            </a:r>
          </a:p>
        </p:txBody>
      </p:sp>
      <p:sp>
        <p:nvSpPr>
          <p:cNvPr id="24" name="Text Box 23"/>
          <p:cNvSpPr txBox="1"/>
          <p:nvPr/>
        </p:nvSpPr>
        <p:spPr>
          <a:xfrm>
            <a:off x="822960" y="4592955"/>
            <a:ext cx="3794125" cy="635000"/>
          </a:xfrm>
          <a:prstGeom prst="rect">
            <a:avLst/>
          </a:prstGeom>
          <a:noFill/>
        </p:spPr>
        <p:txBody>
          <a:bodyPr wrap="square" rtlCol="0">
            <a:no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90128" y="6172200"/>
            <a:ext cx="3291668" cy="411480"/>
          </a:xfrm>
          <a:prstGeom prst="rect">
            <a:avLst/>
          </a:prstGeom>
          <a:noFill/>
        </p:spPr>
        <p:txBody>
          <a:bodyPr wrap="none" anchor="ctr">
            <a:spAutoFit/>
          </a:bodyPr>
          <a:lstStyle/>
          <a:p>
            <a:pPr algn="r"/>
            <a:r>
              <a:rPr b="1"/>
              <a:t>BATCH 17</a:t>
            </a:r>
          </a:p>
        </p:txBody>
      </p:sp>
      <p:sp>
        <p:nvSpPr>
          <p:cNvPr id="3" name="TextBox 2"/>
          <p:cNvSpPr txBox="1"/>
          <p:nvPr/>
        </p:nvSpPr>
        <p:spPr>
          <a:xfrm>
            <a:off x="0" y="2606040"/>
            <a:ext cx="12191365" cy="1645920"/>
          </a:xfrm>
          <a:prstGeom prst="rect">
            <a:avLst/>
          </a:prstGeom>
          <a:noFill/>
        </p:spPr>
        <p:txBody>
          <a:bodyPr wrap="none" anchor="ctr">
            <a:spAutoFit/>
          </a:bodyPr>
          <a:lstStyle/>
          <a:p>
            <a:pPr algn="ctr"/>
            <a:r>
              <a:rPr sz="4320" b="1">
                <a:solidFill>
                  <a:srgbClr val="0066CC"/>
                </a:solidFill>
                <a:latin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890</Words>
  <Application>Microsoft Office PowerPoint</Application>
  <PresentationFormat>Widescreen</PresentationFormat>
  <Paragraphs>201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Restaurant Management System — Review 1</dc:title>
  <dc:subject>C++ Object-Oriented Programming Project</dc:subject>
  <dc:creator>Aditya University</dc:creator>
  <cp:keywords>Restaurant Management System, C++, OOP, Review 1</cp:keywords>
  <dc:description>generated using python-pptx</dc:description>
  <cp:lastModifiedBy>kuramsetti jaswanthi</cp:lastModifiedBy>
  <cp:revision>6</cp:revision>
  <dcterms:created xsi:type="dcterms:W3CDTF">2013-01-27T09:14:00Z</dcterms:created>
  <dcterms:modified xsi:type="dcterms:W3CDTF">2026-08-25T04:29:01Z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673718306424428D830B5A30E74971DC_13</vt:lpwstr>
  </property>
  <property fmtid="{D5CDD505-2E9C-101B-9397-08002B2CF9AE}" pid="3" name="KSOProductBuildVer">
    <vt:lpwstr>1033-12.1.0.28032</vt:lpwstr>
  </property>
</Properties>
</file>